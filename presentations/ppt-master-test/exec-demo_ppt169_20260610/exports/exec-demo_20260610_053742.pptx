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5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62027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58190" y="1307306"/>
            <a:ext cx="10591800" cy="4998244"/>
            <a:chOff x="758190" y="1307306"/>
            <a:chExt cx="10591800" cy="4998244"/>
          </a:xfrm>
        </p:grpSpPr>
        <p:sp>
          <p:nvSpPr>
            <p:cNvPr id="4" name="TextBox 4"/>
            <p:cNvSpPr txBox="1"/>
            <p:nvPr/>
          </p:nvSpPr>
          <p:spPr>
            <a:xfrm>
              <a:off x="842962" y="1307306"/>
              <a:ext cx="19581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62027"/>
                  </a:solidFill>
                  <a:latin typeface="Segoe UI"/>
                  <a:ea typeface="Microsoft YaHei"/>
                  <a:cs typeface="Segoe UI"/>
                </a:rPr>
                <a:t>EXECUTIVE BRIEFING · 2026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8190" y="2463165"/>
              <a:ext cx="8672384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Project NEO Cockpit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76300" y="3543300"/>
              <a:ext cx="1143000" cy="47625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675" y="3948112"/>
              <a:ext cx="63879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C7CBD4"/>
                  </a:solidFill>
                  <a:latin typeface="Segoe UI"/>
                  <a:ea typeface="Microsoft YaHei"/>
                  <a:cs typeface="Segoe UI"/>
                </a:rPr>
                <a:t>ECC → S/4HANA Migration, delivered offline.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2010" y="6061710"/>
              <a:ext cx="828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CBC Israel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38487" y="6061710"/>
              <a:ext cx="1811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Web Coding · Sali Halif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748665" y="685800"/>
            <a:ext cx="10694670" cy="5700712"/>
            <a:chOff x="748665" y="685800"/>
            <a:chExt cx="10694670" cy="5700712"/>
          </a:xfrm>
        </p:grpSpPr>
        <p:sp>
          <p:nvSpPr>
            <p:cNvPr id="3" name="Rectangle 3"/>
            <p:cNvSpPr/>
            <p:nvPr/>
          </p:nvSpPr>
          <p:spPr>
            <a:xfrm>
              <a:off x="762000" y="685800"/>
              <a:ext cx="57150" cy="419100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500" y="70485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The Mandate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62000" y="1905000"/>
              <a:ext cx="3429000" cy="3048000"/>
              <a:chOff x="762000" y="1905000"/>
              <a:chExt cx="3429000" cy="3048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762000" y="1905000"/>
                <a:ext cx="3429000" cy="3048000"/>
              </a:xfrm>
              <a:prstGeom prst="roundRect">
                <a:avLst>
                  <a:gd name="adj" fmla="val 3125"/>
                </a:avLst>
              </a:prstGeom>
              <a:solidFill>
                <a:srgbClr val="F4F5F7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762000" y="1905000"/>
                <a:ext cx="3429000" cy="57150"/>
              </a:xfrm>
              <a:prstGeom prst="rect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4890" y="213931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D62027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45845" y="2869882"/>
                <a:ext cx="132412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Retire ECC6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49655" y="3283268"/>
                <a:ext cx="18255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Land PM and PP-PI on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49655" y="3530918"/>
                <a:ext cx="25726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S/4HANA with zero data loss.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381500" y="1905000"/>
              <a:ext cx="3429000" cy="3048000"/>
              <a:chOff x="4381500" y="1905000"/>
              <a:chExt cx="3429000" cy="3048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81500" y="1905000"/>
                <a:ext cx="3429000" cy="3048000"/>
              </a:xfrm>
              <a:prstGeom prst="roundRect">
                <a:avLst>
                  <a:gd name="adj" fmla="val 3125"/>
                </a:avLst>
              </a:prstGeom>
              <a:solidFill>
                <a:srgbClr val="F4F5F7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4381500" y="1905000"/>
                <a:ext cx="3429000" cy="57150"/>
              </a:xfrm>
              <a:prstGeom prst="rect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44390" y="213931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D62027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65345" y="2869882"/>
                <a:ext cx="13703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One Cockpit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9155" y="3283268"/>
                <a:ext cx="21765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Migration tracker plus a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9155" y="3530918"/>
                <a:ext cx="233857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technical data dictionary.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001000" y="1905000"/>
              <a:ext cx="3429000" cy="3048000"/>
              <a:chOff x="8001000" y="1905000"/>
              <a:chExt cx="3429000" cy="3048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01000" y="1905000"/>
                <a:ext cx="3429000" cy="3048000"/>
              </a:xfrm>
              <a:prstGeom prst="roundRect">
                <a:avLst>
                  <a:gd name="adj" fmla="val 3125"/>
                </a:avLst>
              </a:prstGeom>
              <a:solidFill>
                <a:srgbClr val="F4F5F7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8001000" y="1905000"/>
                <a:ext cx="3429000" cy="57150"/>
              </a:xfrm>
              <a:prstGeom prst="rect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263890" y="213931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D62027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84845" y="2869882"/>
                <a:ext cx="148584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100% Offline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88655" y="3283268"/>
                <a:ext cx="17715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No CDN, no runtime,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288655" y="353091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static export only.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748665" y="6173152"/>
              <a:ext cx="2312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Project NEO Cockpit · CBC Israel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5874" y="6173152"/>
              <a:ext cx="357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2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748665" y="685800"/>
            <a:ext cx="10694670" cy="5700712"/>
            <a:chOff x="748665" y="685800"/>
            <a:chExt cx="10694670" cy="5700712"/>
          </a:xfrm>
        </p:grpSpPr>
        <p:sp>
          <p:nvSpPr>
            <p:cNvPr id="3" name="Rectangle 3"/>
            <p:cNvSpPr/>
            <p:nvPr/>
          </p:nvSpPr>
          <p:spPr>
            <a:xfrm>
              <a:off x="762000" y="685800"/>
              <a:ext cx="57150" cy="419100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500" y="704850"/>
              <a:ext cx="38986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Coverage Snapshot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809750"/>
              <a:ext cx="5143500" cy="1905000"/>
            </a:xfrm>
            <a:prstGeom prst="roundRect">
              <a:avLst>
                <a:gd name="adj" fmla="val 5000"/>
              </a:avLst>
            </a:prstGeom>
            <a:solidFill>
              <a:srgbClr val="13151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2040" y="2186940"/>
              <a:ext cx="6757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PP-PI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7750" y="237172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D62027"/>
                  </a:solidFill>
                  <a:latin typeface="Segoe UI"/>
                  <a:ea typeface="Microsoft YaHei"/>
                  <a:cs typeface="Segoe UI"/>
                </a:rPr>
                <a:t>68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84045" y="26793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CBD4"/>
                  </a:solidFill>
                  <a:latin typeface="Segoe UI"/>
                  <a:ea typeface="Microsoft YaHei"/>
                  <a:cs typeface="Segoe UI"/>
                </a:rPr>
                <a:t>tables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90850" y="2371725"/>
              <a:ext cx="115393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326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0045" y="2679382"/>
              <a:ext cx="657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CBD4"/>
                  </a:solidFill>
                  <a:latin typeface="Segoe UI"/>
                  <a:ea typeface="Microsoft YaHei"/>
                  <a:cs typeface="Segoe UI"/>
                </a:rPr>
                <a:t>fields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8708" y="3177064"/>
              <a:ext cx="29567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Process orders · recipes · batches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809750"/>
              <a:ext cx="5143500" cy="1905000"/>
            </a:xfrm>
            <a:prstGeom prst="roundRect">
              <a:avLst>
                <a:gd name="adj" fmla="val 5000"/>
              </a:avLst>
            </a:prstGeom>
            <a:solidFill>
              <a:srgbClr val="13151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06540" y="2186940"/>
              <a:ext cx="3733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72250" y="237172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D62027"/>
                  </a:solidFill>
                  <a:latin typeface="Segoe UI"/>
                  <a:ea typeface="Microsoft YaHei"/>
                  <a:cs typeface="Segoe UI"/>
                </a:rPr>
                <a:t>58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08545" y="26793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CBD4"/>
                  </a:solidFill>
                  <a:latin typeface="Segoe UI"/>
                  <a:ea typeface="Microsoft YaHei"/>
                  <a:cs typeface="Segoe UI"/>
                </a:rPr>
                <a:t>tables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5350" y="2371725"/>
              <a:ext cx="115393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280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94545" y="2679382"/>
              <a:ext cx="657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CBD4"/>
                  </a:solidFill>
                  <a:latin typeface="Segoe UI"/>
                  <a:ea typeface="Microsoft YaHei"/>
                  <a:cs typeface="Segoe UI"/>
                </a:rPr>
                <a:t>fields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3208" y="3177064"/>
              <a:ext cx="36198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Equipment · func. locations · notifications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000500"/>
              <a:ext cx="10668000" cy="1428750"/>
            </a:xfrm>
            <a:prstGeom prst="roundRect">
              <a:avLst>
                <a:gd name="adj" fmla="val 6667"/>
              </a:avLst>
            </a:prstGeom>
            <a:solidFill>
              <a:srgbClr val="F4F5F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4000500"/>
              <a:ext cx="57150" cy="1428750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7295" y="437483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Total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2530" y="4754880"/>
              <a:ext cx="261175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D62027"/>
                  </a:solidFill>
                  <a:latin typeface="Segoe UI"/>
                  <a:ea typeface="Microsoft YaHei"/>
                  <a:cs typeface="Segoe UI"/>
                </a:rPr>
                <a:t>126 tables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50030" y="4754880"/>
              <a:ext cx="248573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606 fields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1855" y="4712018"/>
              <a:ext cx="3400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15C"/>
                  </a:solidFill>
                  <a:latin typeface="Segoe UI"/>
                  <a:ea typeface="Microsoft YaHei"/>
                  <a:cs typeface="Segoe UI"/>
                </a:rPr>
                <a:t>Asserted at build time — the build fails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1855" y="4978718"/>
              <a:ext cx="1942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15C"/>
                  </a:solidFill>
                  <a:latin typeface="Segoe UI"/>
                  <a:ea typeface="Microsoft YaHei"/>
                  <a:cs typeface="Segoe UI"/>
                </a:rPr>
                <a:t>if table counts drift.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6173152"/>
              <a:ext cx="2312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Project NEO Cockpit · CBC Israel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5874" y="6173152"/>
              <a:ext cx="357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3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748665" y="685800"/>
            <a:ext cx="10694670" cy="5700712"/>
            <a:chOff x="748665" y="685800"/>
            <a:chExt cx="10694670" cy="5700712"/>
          </a:xfrm>
        </p:grpSpPr>
        <p:sp>
          <p:nvSpPr>
            <p:cNvPr id="3" name="Rectangle 3"/>
            <p:cNvSpPr/>
            <p:nvPr/>
          </p:nvSpPr>
          <p:spPr>
            <a:xfrm>
              <a:off x="762000" y="685800"/>
              <a:ext cx="57150" cy="419100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500" y="704850"/>
              <a:ext cx="205044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Readiness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24000" y="2381250"/>
              <a:ext cx="2476500" cy="2476500"/>
            </a:xfrm>
            <a:prstGeom prst="ellipse">
              <a:avLst/>
            </a:prstGeom>
            <a:noFill/>
            <a:ln w="266700">
              <a:solidFill>
                <a:srgbClr val="EDEFF2"/>
              </a:solidFill>
            </a:ln>
          </p:spPr>
        </p:sp>
        <p:sp>
          <p:nvSpPr>
            <p:cNvPr id="6" name="Arc 6"/>
            <p:cNvSpPr/>
            <p:nvPr/>
          </p:nvSpPr>
          <p:spPr>
            <a:xfrm>
              <a:off x="1390650" y="2248274"/>
              <a:ext cx="2741706" cy="2742225"/>
            </a:xfrm>
            <a:custGeom>
              <a:avLst/>
              <a:gdLst/>
              <a:ahLst/>
              <a:cxnLst/>
              <a:rect l="l" t="t" r="r" b="b"/>
              <a:pathLst>
                <a:path w="2741706" h="2742225">
                  <a:moveTo>
                    <a:pt x="0" y="1371226"/>
                  </a:moveTo>
                  <a:lnTo>
                    <a:pt x="6802" y="1234795"/>
                  </a:lnTo>
                  <a:lnTo>
                    <a:pt x="27141" y="1099716"/>
                  </a:lnTo>
                  <a:lnTo>
                    <a:pt x="60816" y="967331"/>
                  </a:lnTo>
                  <a:lnTo>
                    <a:pt x="107491" y="838952"/>
                  </a:lnTo>
                  <a:lnTo>
                    <a:pt x="166705" y="715852"/>
                  </a:lnTo>
                  <a:lnTo>
                    <a:pt x="237870" y="599253"/>
                  </a:lnTo>
                  <a:lnTo>
                    <a:pt x="320280" y="490310"/>
                  </a:lnTo>
                  <a:lnTo>
                    <a:pt x="413118" y="390105"/>
                  </a:lnTo>
                  <a:lnTo>
                    <a:pt x="515462" y="299632"/>
                  </a:lnTo>
                  <a:lnTo>
                    <a:pt x="626299" y="219787"/>
                  </a:lnTo>
                  <a:lnTo>
                    <a:pt x="744527" y="151363"/>
                  </a:lnTo>
                  <a:lnTo>
                    <a:pt x="868976" y="95039"/>
                  </a:lnTo>
                  <a:lnTo>
                    <a:pt x="998409" y="51372"/>
                  </a:lnTo>
                  <a:lnTo>
                    <a:pt x="1131545" y="20797"/>
                  </a:lnTo>
                  <a:lnTo>
                    <a:pt x="1267061" y="3616"/>
                  </a:lnTo>
                  <a:lnTo>
                    <a:pt x="1403614" y="0"/>
                  </a:lnTo>
                  <a:lnTo>
                    <a:pt x="1539850" y="9985"/>
                  </a:lnTo>
                  <a:lnTo>
                    <a:pt x="1674417" y="33471"/>
                  </a:lnTo>
                  <a:lnTo>
                    <a:pt x="1805980" y="70226"/>
                  </a:lnTo>
                  <a:lnTo>
                    <a:pt x="1933235" y="119886"/>
                  </a:lnTo>
                  <a:lnTo>
                    <a:pt x="2054919" y="181957"/>
                  </a:lnTo>
                  <a:lnTo>
                    <a:pt x="2169826" y="255824"/>
                  </a:lnTo>
                  <a:lnTo>
                    <a:pt x="2276815" y="340754"/>
                  </a:lnTo>
                  <a:lnTo>
                    <a:pt x="2374825" y="435905"/>
                  </a:lnTo>
                  <a:lnTo>
                    <a:pt x="2462886" y="540334"/>
                  </a:lnTo>
                  <a:lnTo>
                    <a:pt x="2540121" y="653003"/>
                  </a:lnTo>
                  <a:lnTo>
                    <a:pt x="2605767" y="772797"/>
                  </a:lnTo>
                  <a:lnTo>
                    <a:pt x="2659172" y="898526"/>
                  </a:lnTo>
                  <a:lnTo>
                    <a:pt x="2699805" y="1028944"/>
                  </a:lnTo>
                  <a:lnTo>
                    <a:pt x="2727265" y="1162756"/>
                  </a:lnTo>
                  <a:lnTo>
                    <a:pt x="2741278" y="1298637"/>
                  </a:lnTo>
                  <a:lnTo>
                    <a:pt x="2741706" y="1435237"/>
                  </a:lnTo>
                  <a:lnTo>
                    <a:pt x="2728544" y="1571203"/>
                  </a:lnTo>
                  <a:lnTo>
                    <a:pt x="2701923" y="1705185"/>
                  </a:lnTo>
                  <a:lnTo>
                    <a:pt x="2662107" y="1835854"/>
                  </a:lnTo>
                  <a:lnTo>
                    <a:pt x="2609491" y="1961915"/>
                  </a:lnTo>
                  <a:lnTo>
                    <a:pt x="2544596" y="2082118"/>
                  </a:lnTo>
                  <a:lnTo>
                    <a:pt x="2468067" y="2195269"/>
                  </a:lnTo>
                  <a:lnTo>
                    <a:pt x="2380663" y="2300246"/>
                  </a:lnTo>
                  <a:lnTo>
                    <a:pt x="2283250" y="2396010"/>
                  </a:lnTo>
                  <a:lnTo>
                    <a:pt x="2176795" y="2481608"/>
                  </a:lnTo>
                  <a:lnTo>
                    <a:pt x="2062353" y="2556193"/>
                  </a:lnTo>
                  <a:lnTo>
                    <a:pt x="1941060" y="2619025"/>
                  </a:lnTo>
                  <a:lnTo>
                    <a:pt x="1814119" y="2669480"/>
                  </a:lnTo>
                  <a:lnTo>
                    <a:pt x="1682788" y="2707059"/>
                  </a:lnTo>
                  <a:lnTo>
                    <a:pt x="1548371" y="2731388"/>
                  </a:lnTo>
                  <a:lnTo>
                    <a:pt x="1412200" y="2742225"/>
                  </a:lnTo>
                  <a:lnTo>
                    <a:pt x="1275627" y="2739465"/>
                  </a:lnTo>
                  <a:lnTo>
                    <a:pt x="1140006" y="2723133"/>
                  </a:lnTo>
                  <a:lnTo>
                    <a:pt x="1006682" y="2693392"/>
                  </a:lnTo>
                  <a:lnTo>
                    <a:pt x="876977" y="2650537"/>
                  </a:lnTo>
                  <a:lnTo>
                    <a:pt x="752179" y="2594993"/>
                  </a:lnTo>
                  <a:lnTo>
                    <a:pt x="633524" y="2527310"/>
                  </a:lnTo>
                  <a:lnTo>
                    <a:pt x="522190" y="2448161"/>
                  </a:lnTo>
                  <a:lnTo>
                    <a:pt x="419281" y="2358330"/>
                  </a:lnTo>
                  <a:lnTo>
                    <a:pt x="325817" y="2258709"/>
                  </a:lnTo>
                  <a:lnTo>
                    <a:pt x="242727" y="2150285"/>
                  </a:lnTo>
                  <a:lnTo>
                    <a:pt x="170833" y="2034133"/>
                  </a:lnTo>
                  <a:lnTo>
                    <a:pt x="110849" y="1911407"/>
                  </a:lnTo>
                  <a:lnTo>
                    <a:pt x="63371" y="1783322"/>
                  </a:lnTo>
                  <a:lnTo>
                    <a:pt x="28868" y="1651150"/>
                  </a:lnTo>
                  <a:lnTo>
                    <a:pt x="7683" y="1516202"/>
                  </a:lnTo>
                  <a:lnTo>
                    <a:pt x="27" y="1379816"/>
                  </a:lnTo>
                  <a:lnTo>
                    <a:pt x="266722" y="1378145"/>
                  </a:lnTo>
                  <a:lnTo>
                    <a:pt x="272889" y="1488012"/>
                  </a:lnTo>
                  <a:lnTo>
                    <a:pt x="289955" y="1596721"/>
                  </a:lnTo>
                  <a:lnTo>
                    <a:pt x="317749" y="1703192"/>
                  </a:lnTo>
                  <a:lnTo>
                    <a:pt x="355995" y="1806372"/>
                  </a:lnTo>
                  <a:lnTo>
                    <a:pt x="404316" y="1905235"/>
                  </a:lnTo>
                  <a:lnTo>
                    <a:pt x="462230" y="1998801"/>
                  </a:lnTo>
                  <a:lnTo>
                    <a:pt x="529164" y="2086143"/>
                  </a:lnTo>
                  <a:lnTo>
                    <a:pt x="604454" y="2166393"/>
                  </a:lnTo>
                  <a:lnTo>
                    <a:pt x="687353" y="2238757"/>
                  </a:lnTo>
                  <a:lnTo>
                    <a:pt x="777039" y="2302516"/>
                  </a:lnTo>
                  <a:lnTo>
                    <a:pt x="872622" y="2357038"/>
                  </a:lnTo>
                  <a:lnTo>
                    <a:pt x="973154" y="2401782"/>
                  </a:lnTo>
                  <a:lnTo>
                    <a:pt x="1077638" y="2436304"/>
                  </a:lnTo>
                  <a:lnTo>
                    <a:pt x="1185038" y="2460262"/>
                  </a:lnTo>
                  <a:lnTo>
                    <a:pt x="1294289" y="2473418"/>
                  </a:lnTo>
                  <a:lnTo>
                    <a:pt x="1404306" y="2475642"/>
                  </a:lnTo>
                  <a:lnTo>
                    <a:pt x="1513999" y="2466912"/>
                  </a:lnTo>
                  <a:lnTo>
                    <a:pt x="1622279" y="2447314"/>
                  </a:lnTo>
                  <a:lnTo>
                    <a:pt x="1728073" y="2417042"/>
                  </a:lnTo>
                  <a:lnTo>
                    <a:pt x="1830332" y="2376398"/>
                  </a:lnTo>
                  <a:lnTo>
                    <a:pt x="1928040" y="2325783"/>
                  </a:lnTo>
                  <a:lnTo>
                    <a:pt x="2020229" y="2265701"/>
                  </a:lnTo>
                  <a:lnTo>
                    <a:pt x="2105985" y="2196746"/>
                  </a:lnTo>
                  <a:lnTo>
                    <a:pt x="2184456" y="2119604"/>
                  </a:lnTo>
                  <a:lnTo>
                    <a:pt x="2254865" y="2035038"/>
                  </a:lnTo>
                  <a:lnTo>
                    <a:pt x="2316514" y="1943889"/>
                  </a:lnTo>
                  <a:lnTo>
                    <a:pt x="2368790" y="1847059"/>
                  </a:lnTo>
                  <a:lnTo>
                    <a:pt x="2411175" y="1745510"/>
                  </a:lnTo>
                  <a:lnTo>
                    <a:pt x="2443249" y="1640248"/>
                  </a:lnTo>
                  <a:lnTo>
                    <a:pt x="2464693" y="1532318"/>
                  </a:lnTo>
                  <a:lnTo>
                    <a:pt x="2475296" y="1422791"/>
                  </a:lnTo>
                  <a:lnTo>
                    <a:pt x="2474952" y="1312751"/>
                  </a:lnTo>
                  <a:lnTo>
                    <a:pt x="2463663" y="1203292"/>
                  </a:lnTo>
                  <a:lnTo>
                    <a:pt x="2441543" y="1095499"/>
                  </a:lnTo>
                  <a:lnTo>
                    <a:pt x="2408811" y="990440"/>
                  </a:lnTo>
                  <a:lnTo>
                    <a:pt x="2365790" y="889158"/>
                  </a:lnTo>
                  <a:lnTo>
                    <a:pt x="2312909" y="792658"/>
                  </a:lnTo>
                  <a:lnTo>
                    <a:pt x="2250691" y="701896"/>
                  </a:lnTo>
                  <a:lnTo>
                    <a:pt x="2179754" y="617773"/>
                  </a:lnTo>
                  <a:lnTo>
                    <a:pt x="2100801" y="541124"/>
                  </a:lnTo>
                  <a:lnTo>
                    <a:pt x="2014615" y="472708"/>
                  </a:lnTo>
                  <a:lnTo>
                    <a:pt x="1922051" y="413204"/>
                  </a:lnTo>
                  <a:lnTo>
                    <a:pt x="1824028" y="363202"/>
                  </a:lnTo>
                  <a:lnTo>
                    <a:pt x="1721517" y="323199"/>
                  </a:lnTo>
                  <a:lnTo>
                    <a:pt x="1615536" y="293590"/>
                  </a:lnTo>
                  <a:lnTo>
                    <a:pt x="1507135" y="274671"/>
                  </a:lnTo>
                  <a:lnTo>
                    <a:pt x="1397389" y="266627"/>
                  </a:lnTo>
                  <a:lnTo>
                    <a:pt x="1287388" y="269540"/>
                  </a:lnTo>
                  <a:lnTo>
                    <a:pt x="1178222" y="283380"/>
                  </a:lnTo>
                  <a:lnTo>
                    <a:pt x="1070974" y="308010"/>
                  </a:lnTo>
                  <a:lnTo>
                    <a:pt x="966708" y="343186"/>
                  </a:lnTo>
                  <a:lnTo>
                    <a:pt x="866458" y="388559"/>
                  </a:lnTo>
                  <a:lnTo>
                    <a:pt x="771218" y="443678"/>
                  </a:lnTo>
                  <a:lnTo>
                    <a:pt x="681934" y="507997"/>
                  </a:lnTo>
                  <a:lnTo>
                    <a:pt x="599489" y="580879"/>
                  </a:lnTo>
                  <a:lnTo>
                    <a:pt x="524704" y="661599"/>
                  </a:lnTo>
                  <a:lnTo>
                    <a:pt x="458318" y="749359"/>
                  </a:lnTo>
                  <a:lnTo>
                    <a:pt x="400990" y="843286"/>
                  </a:lnTo>
                  <a:lnTo>
                    <a:pt x="353290" y="942450"/>
                  </a:lnTo>
                  <a:lnTo>
                    <a:pt x="315691" y="1045866"/>
                  </a:lnTo>
                  <a:lnTo>
                    <a:pt x="288564" y="1152510"/>
                  </a:lnTo>
                  <a:lnTo>
                    <a:pt x="272180" y="1261323"/>
                  </a:lnTo>
                  <a:lnTo>
                    <a:pt x="266700" y="1371226"/>
                  </a:lnTo>
                  <a:close/>
                </a:path>
              </a:pathLst>
            </a:custGeom>
            <a:solidFill>
              <a:srgbClr val="D6202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94789" y="3025140"/>
              <a:ext cx="173492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13151A"/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21502" y="37785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B515C"/>
                  </a:solidFill>
                  <a:latin typeface="Segoe UI"/>
                  <a:ea typeface="Microsoft YaHei"/>
                  <a:cs typeface="Segoe UI"/>
                </a:rPr>
                <a:t>field-level mapping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600700" y="2145982"/>
              <a:ext cx="4836747" cy="611506"/>
              <a:chOff x="5600700" y="2145982"/>
              <a:chExt cx="4836747" cy="611506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5600700" y="2247900"/>
                <a:ext cx="228600" cy="2286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624512" y="22979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979795" y="2145982"/>
                <a:ext cx="1971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Blueprints locked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83605" y="2483168"/>
                <a:ext cx="44538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Field-level mapping complete across both modules.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600700" y="3212782"/>
              <a:ext cx="5268801" cy="611506"/>
              <a:chOff x="5600700" y="3212782"/>
              <a:chExt cx="5268801" cy="61150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5600700" y="3314700"/>
                <a:ext cx="228600" cy="2286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624512" y="33647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79795" y="3212782"/>
                <a:ext cx="25370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S/4 guidance attached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983605" y="3549968"/>
                <a:ext cx="488589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Simplification notes + Fiori apps + SUM notes per table.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600700" y="4279582"/>
              <a:ext cx="4575715" cy="611506"/>
              <a:chOff x="5600700" y="4279582"/>
              <a:chExt cx="4575715" cy="61150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600700" y="4381500"/>
                <a:ext cx="228600" cy="2286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624512" y="44315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79795" y="4279582"/>
                <a:ext cx="17053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151A"/>
                    </a:solidFill>
                    <a:latin typeface="Segoe UI"/>
                    <a:ea typeface="Microsoft YaHei"/>
                    <a:cs typeface="Segoe UI"/>
                  </a:rPr>
                  <a:t>Sign-off ready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83605" y="4616768"/>
                <a:ext cx="41928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B515C"/>
                    </a:solidFill>
                    <a:latin typeface="Segoe UI"/>
                    <a:ea typeface="Microsoft YaHei"/>
                    <a:cs typeface="Segoe UI"/>
                  </a:rPr>
                  <a:t>Status persistence with JSON export / import.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48665" y="6173152"/>
              <a:ext cx="2312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Project NEO Cockpit · CBC Israel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85874" y="6173152"/>
              <a:ext cx="357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0AB"/>
                  </a:solidFill>
                  <a:latin typeface="Segoe UI"/>
                  <a:ea typeface="Microsoft YaHei"/>
                  <a:cs typeface="Segoe UI"/>
                </a:rPr>
                <a:t>4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5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62027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819150" y="819150"/>
            <a:ext cx="10528935" cy="5567362"/>
            <a:chOff x="819150" y="819150"/>
            <a:chExt cx="10528935" cy="5567362"/>
          </a:xfrm>
        </p:grpSpPr>
        <p:sp>
          <p:nvSpPr>
            <p:cNvPr id="4" name="TextBox 4"/>
            <p:cNvSpPr txBox="1"/>
            <p:nvPr/>
          </p:nvSpPr>
          <p:spPr>
            <a:xfrm>
              <a:off x="819150" y="819150"/>
              <a:ext cx="228147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Next Steps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76300" y="1314450"/>
              <a:ext cx="952500" cy="47625"/>
            </a:xfrm>
            <a:prstGeom prst="rect">
              <a:avLst/>
            </a:prstGeom>
            <a:solidFill>
              <a:srgbClr val="D62027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428750" y="26670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28575">
              <a:solidFill>
                <a:srgbClr val="3A3D45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573685" y="2476500"/>
              <a:ext cx="9074384" cy="1531144"/>
              <a:chOff x="1573685" y="2476500"/>
              <a:chExt cx="9074384" cy="153114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2381250" y="2476500"/>
                <a:ext cx="381000" cy="3810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502624" y="25879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071410" y="315563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Sign-off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573685" y="3519964"/>
                <a:ext cx="199613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Functional review of PM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07689" y="3748564"/>
                <a:ext cx="192812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and PP-PI dictionaries.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5905500" y="2476500"/>
                <a:ext cx="381000" cy="3810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026874" y="25879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81958" y="31556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SUM Dry-Run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208449" y="3519964"/>
                <a:ext cx="177510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Conversion rehearsal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74219" y="3748564"/>
                <a:ext cx="14435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against sandbox.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9429750" y="2476500"/>
                <a:ext cx="381000" cy="381000"/>
              </a:xfrm>
              <a:prstGeom prst="ellipse">
                <a:avLst/>
              </a:prstGeom>
              <a:solidFill>
                <a:srgbClr val="D6202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551124" y="25879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83443" y="3155632"/>
                <a:ext cx="87361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Go-Live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92431" y="3519964"/>
                <a:ext cx="20556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Cutover rehearsal, then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792206" y="3748564"/>
                <a:ext cx="16560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A8AEB9"/>
                    </a:solidFill>
                    <a:latin typeface="Segoe UI"/>
                    <a:ea typeface="Microsoft YaHei"/>
                    <a:cs typeface="Segoe UI"/>
                  </a:rPr>
                  <a:t>production window.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43915" y="6173152"/>
              <a:ext cx="2312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Project NEO Cockpit · CBC Israel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63158" y="6173152"/>
              <a:ext cx="2084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8A909B"/>
                  </a:solidFill>
                  <a:latin typeface="Segoe UI"/>
                  <a:ea typeface="Microsoft YaHei"/>
                  <a:cs typeface="Segoe UI"/>
                </a:rPr>
                <a:t>Web Coding · Sali Halif · 5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2026-06-10T02:37:42Z</dcterms:created>
  <dcterms:modified xsi:type="dcterms:W3CDTF">2026-06-10T02:37:42Z</dcterms:modified>
  <cp:category/>
  <cp:contentStatus/>
</cp:coreProperties>
</file>