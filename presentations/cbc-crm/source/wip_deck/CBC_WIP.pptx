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נתח</c:v>
                </c:pt>
              </c:strCache>
            </c:strRef>
          </c:tx>
          <c:dPt>
            <c:idx val="0"/>
            <c:spPr>
              <a:solidFill>
                <a:srgbClr val="E11B22"/>
              </a:solidFill>
            </c:spPr>
          </c:dPt>
          <c:dPt>
            <c:idx val="1"/>
            <c:spPr>
              <a:solidFill>
                <a:srgbClr val="9A9A9A"/>
              </a:solidFill>
            </c:spPr>
          </c:dPt>
          <c:dPt>
            <c:idx val="2"/>
            <c:spPr>
              <a:solidFill>
                <a:srgbClr val="9A9A9A"/>
              </a:solidFill>
            </c:spPr>
          </c:dPt>
          <c:dPt>
            <c:idx val="3"/>
            <c:spPr>
              <a:solidFill>
                <a:srgbClr val="9A9A9A"/>
              </a:solidFill>
            </c:spPr>
          </c:dPt>
          <c:cat>
            <c:strRef>
              <c:f>Sheet1!$A$2:$A$5</c:f>
              <c:strCache>
                <c:ptCount val="4"/>
                <c:pt idx="0">
                  <c:v>CBC (קולה)</c:v>
                </c:pt>
                <c:pt idx="1">
                  <c:v>RC Cola</c:v>
                </c:pt>
                <c:pt idx="2">
                  <c:v>שיא "שוופס 22"</c:v>
                </c:pt>
                <c:pt idx="3">
                  <c:v>אחרי שנה</c:v>
                </c:pt>
              </c:strCache>
            </c:strRef>
          </c:cat>
          <c:val>
            <c:numRef>
              <c:f>Sheet1!$B$2:$B$5</c:f>
              <c:numCache>
                <c:formatCode>General</c:formatCode>
                <c:ptCount val="4"/>
                <c:pt idx="0">
                  <c:v>90</c:v>
                </c:pt>
                <c:pt idx="1">
                  <c:v>3</c:v>
                </c:pt>
                <c:pt idx="2">
                  <c:v>1.8</c:v>
                </c:pt>
                <c:pt idx="3">
                  <c:v>0.1</c:v>
                </c:pt>
              </c:numCache>
            </c:numRef>
          </c:val>
        </c:ser>
        <c:dLbls>
          <c:numFmt formatCode="0.0&quot;%&quot;" sourceLinked="0"/>
          <c:txPr>
            <a:bodyPr/>
            <a:lstStyle/>
            <a:p>
              <a:pPr>
                <a:defRPr sz="1300" b="1">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1A1A1A"/>
                </a:solidFill>
              </a:defRPr>
            </a:pPr>
          </a:p>
        </c:txPr>
        <c:crossAx val="-2113994440"/>
        <c:crosses val="autoZero"/>
        <c:auto val="1"/>
        <c:lblAlgn val="ctr"/>
        <c:lblOffset val="100"/>
        <c:noMultiLvlLbl val="0"/>
      </c:catAx>
      <c:valAx>
        <c:axId val="-2113994440"/>
        <c:scaling>
          <c:max val="100.0"/>
          <c:min val="0.0"/>
        </c:scaling>
        <c:delete val="0"/>
        <c:axPos val="l"/>
        <c:majorGridlines>
          <c:spPr>
            <a:ln w="6350">
              <a:solidFill>
                <a:srgbClr val="E3E3E3"/>
              </a:solidFill>
            </a:ln>
          </c:spPr>
        </c:majorGridlines>
        <c:majorTickMark val="out"/>
        <c:minorTickMark val="none"/>
        <c:tickLblPos val="nextTo"/>
        <c:txPr>
          <a:bodyPr/>
          <a:lstStyle/>
          <a:p>
            <a:pPr>
              <a:defRPr sz="1000">
                <a:solidFill>
                  <a:srgbClr val="9A9A9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נתח</c:v>
                </c:pt>
              </c:strCache>
            </c:strRef>
          </c:tx>
          <c:dPt>
            <c:idx val="0"/>
            <c:spPr>
              <a:solidFill>
                <a:srgbClr val="595959"/>
              </a:solidFill>
            </c:spPr>
          </c:dPt>
          <c:dPt>
            <c:idx val="1"/>
            <c:spPr>
              <a:solidFill>
                <a:srgbClr val="8C8C8C"/>
              </a:solidFill>
            </c:spPr>
          </c:dPt>
          <c:dPt>
            <c:idx val="2"/>
            <c:spPr>
              <a:solidFill>
                <a:srgbClr val="E11B22"/>
              </a:solidFill>
            </c:spPr>
          </c:dPt>
          <c:dPt>
            <c:idx val="3"/>
            <c:spPr>
              <a:solidFill>
                <a:srgbClr val="BFBFBF"/>
              </a:solidFill>
            </c:spPr>
          </c:dPt>
          <c:cat>
            <c:strRef>
              <c:f>Sheet1!$A$2:$A$5</c:f>
              <c:strCache>
                <c:ptCount val="4"/>
                <c:pt idx="0">
                  <c:v>תנובה</c:v>
                </c:pt>
                <c:pt idx="1">
                  <c:v>שטראוס</c:v>
                </c:pt>
                <c:pt idx="2">
                  <c:v>טרה (CBC)</c:v>
                </c:pt>
                <c:pt idx="3">
                  <c:v>אחרים</c:v>
                </c:pt>
              </c:strCache>
            </c:strRef>
          </c:cat>
          <c:val>
            <c:numRef>
              <c:f>Sheet1!$B$2:$B$5</c:f>
              <c:numCache>
                <c:formatCode>General</c:formatCode>
                <c:ptCount val="4"/>
                <c:pt idx="0">
                  <c:v>48.6</c:v>
                </c:pt>
                <c:pt idx="1">
                  <c:v>27.3</c:v>
                </c:pt>
                <c:pt idx="2">
                  <c:v>9.6</c:v>
                </c:pt>
                <c:pt idx="3">
                  <c:v>14.5</c:v>
                </c:pt>
              </c:numCache>
            </c:numRef>
          </c:val>
        </c:ser>
        <c:dLbls>
          <c:numFmt formatCode="0.0&quot;%&quot;" sourceLinked="0"/>
          <c:txPr>
            <a:bodyPr/>
            <a:lstStyle/>
            <a:p>
              <a:pPr>
                <a:defRPr sz="11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100"/>
          </a:pPr>
        </a:p>
      </c:txPr>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פתיחה (ירדן, ~0:20 דק'): שלום לכולם. היום נציג את החברה הפרטית הכי דומיננטית בשוק הישראלי, קוקה-קולה ישראל, או בשמה הרשמי החברה המרכזית לייצור משקאות קלים. נראה מי הם, איך נבנו, כמה הם שולטים, ואיך הם עושים את זה.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מערכה 1 (ירדן): נתחיל באימפריה עצמה. נפתח בתמונה אחת, נחזור אחורה לסיפור ההקמה, ונבין כמה החברה הזו באמת שולטת בשוק.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ההוק (ירדן, ~1.2 דק'): תסתכלו על המקרר הזה. המשקה שבתוכו שלהם, המקרר עצמו שלהם, השלט והתפריט שלהם. ואת המקרר, ששווה אלפי שקלים, הם העמידו לבעל העסק בחינם. זו לא נדיבות, זו אסטרטגיה: ברגע שהמקרר הממותג שלהם עומד אצלך, אתה כבר לא קונה מאף אחד אחר. נחזור למקרר הזה עוד מעט, כשנדבר על הרגולציה. אבל קודם, איך הכול התחיל.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הסיפור (ירדן, ~1.4 דק'): הסיפור מתחיל ב-1967. מוזי ורטהיים, עורך דין יליד ירושלים ואיש מוסד לשעבר, זכה יחד עם משקיע אמריקאי בשם אברהם פיינברג בזיכיון הבלעדי לייצר ולבקבק את קוקה-קולה בישראל. זה בעצם המנוע של הכול. במשך השנים ורטהיים עלה בדרגות, וב-2001 קנה את חלקו של פיינברג והפך לבעלים היחיד. את הרווחים האדירים מהקולה הוא הפך לאימפריה עסקית רחבה הרבה יותר, וזה הנושא של השקופית הבאה.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הירושה (ירדן, ~1.3 דק'): ורטהיים לא חיכה לצוואה. כבר ב-2013 הוא חילק את הנכסים לילדיו בחייו: הבן דויד קיבל 63% מהמניות והפך ליושב ראש, והוא זה שמנהל את החברה עד היום; הבת דרורית קיבלה 37% והיא דירקטורית. וחשוב להבין את גודל האימפריה שמסביב: ורטהיים החזיק גם כ-22% מבנק מזרחי-טפחות, כ-51% מזכיינית קשת בטלוויזיה, ואחזקות נדל"ן משמעותיות. הנקודה המרכזית: עד היום זו חברה פרטית לחלוטין, בבעלות המשפחה, בלי דוחות כספיים פומביים. מוזי ורטהיים נפטר ב-2016.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הפורטפוליו (ירדן, ~1.2 דק'): היום זו קבוצת מזון ומשקאות מלאה. שני מפעלי ייצור, בבני ברק ובקריית גת, שמייצרים בממוצע מעל מיליון אריזות משקה ביום. כ-4,700 עובדים בישראל, ותשע קטגוריות מוצר. אבל הדבר הכי חשוב הוא הקיר התחתון: קוקה-קולה, נביעות, פריגת, טרה, קרלסברג, יקב תבור, נורדיק מיסט. רובנו לא יודעים שכל המותגים האלה הם אותה חברה, וזה בדיוק כוח-העל שלה.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השליטה בשוק (ירדן, ~1.1 דק'): כמה הם שולטים? כ-90% משוק הקולה, בערך שני שלישים מכלל המשקאות הקלים, וכ-75% משוק התה הקר. וברמת המאקרו, כ-40% מכלל שוק המשקאות בישראל, כולל כ-40% משוק הבירה דרך מבשלת הבירה שבבעלותם. חשוב לומר בכנות: כל המספרים האלה הם הערכות שפורסמו בעיתונות, סדר גודל ולא נתונים מבוקרים, כי החברה פרטית. אבל גם בערבון מוגבל, התמונה ברורה.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החפיר (ירדן, ~1.2 דק'): השליטה לא רק קיימת, היא בלתי-חדירה. תראו מה קורה כשמתחרה תוקף את ליבת הקולה. RC Cola של יפאורה, אחת החברות הגדולות בשוק, תקועה על כ-3% בלבד. וכשיפאורה ניסתה משקה תחת המותג שוופס, הוא הגיע לשיא של 1.8%, צנח ל-0.1%, והורד מהמדף אחרי שנה. גם השחקנים הגדולים פשוט נתקלים בקיר.</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מחיר השליטה (ירדן, ~1.3 דק'): לדומיננטיות כזו יש מחיר, והרגולטור התערב. רשות התחרות קבעה שהחברה ניצלה לרעה את מעמדה המונופוליסטי בשוק הקולה. איך? ארבעה דברים מרכזיים: ראשון, המקרר ככלי לחץ, מתן מקרר או איום בהוצאתו; שני, קשירת הנחות, כלומר הנחה גדולה יותר על קוקה-קולה למי שקנה גם נביעות; שלישי, הסכמי בלעדיות עם לקוחות; ורביעי, סירוב בלתי-סביר לספק. שימו לב לחיבור: המקרר החינמי שפתחנו בו הוא בדיוק הכלי שהרגולטור סימן. וזה מוביל לתביעה הגדולה.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התביעה הגדולה (ירדן, ~1.5 דק'): זו הפרשה המשפטית הגדולה ביותר של החברה. בדצמבר 2019, הממונה על התחרות מיכל הלפרין שקלה תחילה קנס של 65 מיליון שקל, ולבסוף הטילה 39 מיליון. במועד ההוא, זה היה הקנס הגבוה ביותר שהוטל אי פעם בישראל על חברה בגין פגיעה בתחרות. החברה ערערה לבית הדין לתחרות, שב-2023 אישר שהיא אכן ניצלה לרעה את מעמדה, אך הפחית את הקנס ל-36 מיליון. החברה המשיכה לבית המשפט העליון, אבל ב-2025, אחרי הדיון, משכה את מרבית הערעור, מה שמהווה הודאה בפועל. ובמקביל יש תקדים חשוב: ב-2022 קבע העליון שמותר בכלל לנהל תביעה ייצוגית נגד מונופול על תמחור מופרז. כאן אני מעביר לסאלי, שתראה איך החברה הזו בנויה מבפנים.</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מערכה 2 (סאלי): ראינו את האימפריה ואת השליטה. עכשיו נבין את האסטרטגיה שמאחורי זה, את מערך התפעול וההפצה, ואת המערכות שהחברה משתמשת בהן בפועל.</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האסטרטגיה (סאלי, ~1.3 דק'): האסטרטגיה של החברה מסתכמת במשפט אחד: לא למכור משקה בודד, אלא להחזיק את כל מקרר המשקאות של הלקוח. שלושה עוגנים מאפשרים את זה. ראשון, זיכיון בלעדי על מותגים שאין לאף מתחרה. שני, סל מלא מבית אחד, מקולה ומים ועד חלב, בירה ויין. שלישי, שליטה בנקודת המכירה עצמה, במקרר ובמדף. החיבור: CBC היא הספק היחיד בישראל שיכול למלא לבעל עסק את כל המקרר ממשאית אחת. טמפו מוכרת בלי חלב, תנובה מוכרת חלב בלי כיסוי מלא. רק הם נותנים את הכול.</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אינטגרציה אנכית והפצה (סאלי, ~1.3 דק'): מאחורי השליטה עומדת מכונה תפעולית. בקבוצה פועלת חברת מכירות והפצה נפרדת וייעודית, שמגדירה את עצמה כספק השירות המוביל בישראל. היא מפיצה את המוצרים ישירות ללקוחות, במודל Direct Store Delivery, דרך שישה מרחבי הפצה ארציים: ירושלים, שורק, חיפה, הוד השרון, באר שבע ואילת. זו אינטגרציה אנכית מלאה, מהמפעל ועד המדף, ומערך ההפצה משרת שלושה גורמים: הקמעונאים, הקונים והמותגים.</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המערכות בפועל (סאלי, ~1.4 דק'): אלה המערכות האמיתיות של החברה. ראשית, מוקד שירות לקוחות רב-ערוצי, בטלפון, במייל וברשתות. שנית, אפליקציית צרכן עם מועדון נאמנות, שבה צוברים נקודות מפקקי הבקבוקים, וזה ערוץ דאטה ישיר לצרכן. שלישית, פורטל ספקים לניהול שרשרת האספקה, מבוסס StoreNext. ורביעית, מערך השטח, שבו הסוכנים עובדים עם מסופונים המחוברים לליבת SAP. שימו לב, פרטי ה-SAP והמסופון מגיעים מתשאול שערכנו בשטח, לא מפרסום רשמי. ולסיום, נקודה שמעידה על הכול: החברה היא זוכת הפרס הלאומי לאיכות ומצוינות ע"ש יצחק רבין.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איך הם מוכרים (סאלי, ~1.4 דק'): מהתשאול שלנו בשטח עלו כמה תובנות על אופן המכירה. ראשית, כמובילת שוק, החברה לא רודפת אחרי לקוחות, הם פונים אליה ביוזמתם כדי לקבל את המקרר והשירות. שנית, ריבוי הערוצים הוא אשליה, כי המוקד, האתר והאפליקציה מתנקזים בפועל לתהליך מכירה אחד. שלישית, הבעלות על הלקוח מנוהלת מרכזית, לפי אזור וסגמנט, ולא שייכת בהכרח לאיש השטח שאיתר אותו. ורביעית, תמחור דיפרנציאלי לפי ערוץ: אותו בקבוק קוקה-קולה זול ברשת ויקר משמעותית בחנות נוחות. כל אלה הם ממצאים שלנו, סדר גודל, לא נתונים רשמיים. כאן אני מעבירה לנתנאל, לחלק האחרון: הבידול.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מערכה 3 (נתנאל): החלק האחרון. נסכם מה בדיוק מבדל את החברה ועושה אותה בלתי-מנוצחת, נראה את הזירה היחידה שבה היא דווקא לא שולטת, ואיך חדשנות שומרת על ההובלה.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עוגני הבידול (נתנאל, ~1.3 דק'): מה בדיוק מבדל אותם? חמישה עוגנים. עוצמת המותגים והזיכיון הבלעדי של קוקה-קולה. פתרון 360 מעלות, סל מלא מבית אחד. מצוינות תפעולית ולוגיסטיקה ארצית. חדשנות מוצרית דרך Gat Foods ונורדיק מיסט. ותפיסת איכות ואמון. אבל כל החמישה מתכנסים לרעיון אחד: הם הספק היחיד בישראל שיכול למלא לבעל עסק את כל המקרר ממשאית אחת. זה היתרון הבלתי-עביר.</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שוק החלב (נתנאל, ~1.3 דק'): כדי להיות הוגנים, חשוב להראות איפה הם דווקא לא מנצחים. שוק החלב הוא הזירה היחידה הזו. כאן תנובה מובילה עם כ-48% ושטראוס עם כ-27%, בעוד טרה, שבבעלות החברה, מחזיקה כ-9.6% בלבד. ולא רק שהיא קטנה, המגמה שלילית: נתח טרה ירד מכ-13% ב-2017 אל מתחת ל-10% היום. אלה נתוני שוק שפורסמו, אז סדר גודל. זו מציאות תחרותית שמזכירה שאפילו ענק לא מנצח בכל זירה.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חדשנות (נתנאל, ~1.3 דק'): החדשנות היא חלק מהבידול, והיא פועלת בשני כיוונים. ב-2025 החברה נכנסה לשיתוף פעולה עם חברת Brevel לפיתוח חלבון ממיקרו-אצות, לתחליפי חלב ולמשקאות פונקציונליים, צעד שלוקח אותם אל מעבר למשקאות הקלאסיים. ובמקביל, נורדיק מיסט, שהושק ב-2022 כמתחרה ישיר ל-Schweppes, הורחב ב-2024 לכלל הקמעונאות עם גרסת זירו ואריזה משפחתית, באריזות פלסטיק ממוחזר. אלה מהלכים מדווחים שלהם. הרעיון: חדשנות שומרת על ההובלה היום ובונה את הקטגוריות של מחר.</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סיכום (נתנאל, ~0:40 דק'): אם תיקחו משפט אחד מהמצגת: חברה פרטית אחת, בבעלות משפחה אחת, שולטת כמעט בכל מה שאתם שותים. ראינו את סיפור ההקמה, את השליטה, את האסטרטגיה והתפעול, ואת הבידול. שלושה דברים הופכים אותה לבלתי-מנוצחת: מותגים בלעדיים, מצוינות תפעולית, ושליטה בנקודת המכירה. תודה רבה, ונשמח לשאלות.</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lang="he-IL">
                <a:latin typeface="Arial"/>
              </a:rPr>
              <a:t>סיום (כולם): תודה רבה. נשמח לשאלות על החברה, על האסטרטגיה והתפעול, או על השוק.</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0.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11B22"/>
        </a:solidFill>
        <a:effectLst/>
      </p:bgPr>
    </p:bg>
    <p:spTree>
      <p:nvGrpSpPr>
        <p:cNvPr id="1" name=""/>
        <p:cNvGrpSpPr/>
        <p:nvPr/>
      </p:nvGrpSpPr>
      <p:grpSpPr/>
      <p:sp>
        <p:nvSpPr>
          <p:cNvPr id="2" name="Oval 1"/>
          <p:cNvSpPr/>
          <p:nvPr/>
        </p:nvSpPr>
        <p:spPr>
          <a:xfrm>
            <a:off x="-2011680" y="4572000"/>
            <a:ext cx="16184880" cy="5852160"/>
          </a:xfrm>
          <a:prstGeom prst="ellipse">
            <a:avLst/>
          </a:prstGeom>
          <a:solidFill>
            <a:srgbClr val="E84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34440"/>
            <a:ext cx="10360152" cy="1828800"/>
          </a:xfrm>
          <a:prstGeom prst="rect">
            <a:avLst/>
          </a:prstGeom>
          <a:noFill/>
        </p:spPr>
        <p:txBody>
          <a:bodyPr wrap="square" anchor="ctr" lIns="0" rIns="0" tIns="0" bIns="0">
            <a:spAutoFit/>
          </a:bodyPr>
          <a:lstStyle/>
          <a:p>
            <a:pPr algn="ctr" rtl="0"/>
            <a:r>
              <a:rPr sz="12000" b="1" i="0" lang="en-US">
                <a:solidFill>
                  <a:srgbClr val="FFFFFF"/>
                </a:solidFill>
                <a:latin typeface="Arial"/>
              </a:rPr>
              <a:t>CBC</a:t>
            </a:r>
          </a:p>
        </p:txBody>
      </p:sp>
      <p:sp>
        <p:nvSpPr>
          <p:cNvPr id="4" name="TextBox 3"/>
          <p:cNvSpPr txBox="1"/>
          <p:nvPr/>
        </p:nvSpPr>
        <p:spPr>
          <a:xfrm>
            <a:off x="1097280" y="3246120"/>
            <a:ext cx="9994392" cy="914400"/>
          </a:xfrm>
          <a:prstGeom prst="rect">
            <a:avLst/>
          </a:prstGeom>
          <a:noFill/>
        </p:spPr>
        <p:txBody>
          <a:bodyPr wrap="square" anchor="ctr" lIns="0" rIns="0" tIns="0" bIns="0">
            <a:spAutoFit/>
          </a:bodyPr>
          <a:lstStyle/>
          <a:p>
            <a:pPr algn="ctr" rtl="1"/>
            <a:r>
              <a:rPr sz="2300" b="1" i="0" lang="he-IL">
                <a:solidFill>
                  <a:srgbClr val="FFFFFF"/>
                </a:solidFill>
                <a:latin typeface="Arial"/>
              </a:rPr>
              <a:t>חברה פרטית אחת שולטת כמעט בכל מה שאתם שותים,</a:t>
            </a:r>
          </a:p>
          <a:p>
            <a:pPr algn="ctr" rtl="1"/>
            <a:r>
              <a:rPr sz="2300" b="1" i="0" lang="he-IL">
                <a:solidFill>
                  <a:srgbClr val="FFFFFF"/>
                </a:solidFill>
                <a:latin typeface="Arial"/>
              </a:rPr>
              <a:t>ומחזיקה את כל מקרר המשקאות שלכם.</a:t>
            </a:r>
          </a:p>
        </p:txBody>
      </p:sp>
      <p:sp>
        <p:nvSpPr>
          <p:cNvPr id="5" name="TextBox 4"/>
          <p:cNvSpPr txBox="1"/>
          <p:nvPr/>
        </p:nvSpPr>
        <p:spPr>
          <a:xfrm>
            <a:off x="1097280" y="5212080"/>
            <a:ext cx="9994392" cy="411480"/>
          </a:xfrm>
          <a:prstGeom prst="rect">
            <a:avLst/>
          </a:prstGeom>
          <a:noFill/>
        </p:spPr>
        <p:txBody>
          <a:bodyPr wrap="square" anchor="t" lIns="0" rIns="0" tIns="0" bIns="0">
            <a:spAutoFit/>
          </a:bodyPr>
          <a:lstStyle/>
          <a:p>
            <a:pPr algn="ctr" rtl="1"/>
            <a:r>
              <a:rPr sz="1500" b="0" i="0" lang="he-IL">
                <a:solidFill>
                  <a:srgbClr val="FFFFFF"/>
                </a:solidFill>
                <a:latin typeface="Arial"/>
              </a:rPr>
              <a:t>מגישים:  סאלי חליף  ·  ירדן רום  ·  נתנאל יברקן</a:t>
            </a:r>
          </a:p>
        </p:txBody>
      </p:sp>
      <p:sp>
        <p:nvSpPr>
          <p:cNvPr id="6" name="TextBox 5"/>
          <p:cNvSpPr txBox="1"/>
          <p:nvPr/>
        </p:nvSpPr>
        <p:spPr>
          <a:xfrm>
            <a:off x="1097280" y="5687568"/>
            <a:ext cx="9994392" cy="411480"/>
          </a:xfrm>
          <a:prstGeom prst="rect">
            <a:avLst/>
          </a:prstGeom>
          <a:noFill/>
        </p:spPr>
        <p:txBody>
          <a:bodyPr wrap="square" anchor="t" lIns="0" rIns="0" tIns="0" bIns="0">
            <a:spAutoFit/>
          </a:bodyPr>
          <a:lstStyle/>
          <a:p>
            <a:pPr algn="ctr" rtl="1"/>
            <a:r>
              <a:rPr sz="1250" b="0" i="0" lang="he-IL">
                <a:solidFill>
                  <a:srgbClr val="F6C9CB"/>
                </a:solidFill>
                <a:latin typeface="Arial"/>
              </a:rPr>
              <a:t>אסטרטגיית CRM בארגונים עסקיים ו-Salesforce   ·   מרצה: רונן בנבניסטי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11B22"/>
        </a:solidFill>
        <a:effectLst/>
      </p:bgPr>
    </p:bg>
    <p:spTree>
      <p:nvGrpSpPr>
        <p:cNvPr id="1" name=""/>
        <p:cNvGrpSpPr/>
        <p:nvPr/>
      </p:nvGrpSpPr>
      <p:grpSpPr/>
      <p:sp>
        <p:nvSpPr>
          <p:cNvPr id="2" name="Oval 1"/>
          <p:cNvSpPr/>
          <p:nvPr/>
        </p:nvSpPr>
        <p:spPr>
          <a:xfrm>
            <a:off x="-2011680" y="4572000"/>
            <a:ext cx="16184880" cy="5852160"/>
          </a:xfrm>
          <a:prstGeom prst="ellipse">
            <a:avLst/>
          </a:prstGeom>
          <a:solidFill>
            <a:srgbClr val="E84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914400"/>
          </a:xfrm>
          <a:prstGeom prst="rect">
            <a:avLst/>
          </a:prstGeom>
          <a:noFill/>
        </p:spPr>
        <p:txBody>
          <a:bodyPr wrap="square" anchor="t" lIns="0" rIns="0" tIns="0" bIns="0">
            <a:spAutoFit/>
          </a:bodyPr>
          <a:lstStyle/>
          <a:p>
            <a:pPr algn="r" rtl="0"/>
            <a:r>
              <a:rPr sz="3000" b="1" i="0" lang="en-US">
                <a:solidFill>
                  <a:srgbClr val="F6BCBE"/>
                </a:solidFill>
                <a:latin typeface="Arial"/>
              </a:rPr>
              <a:t>01</a:t>
            </a:r>
          </a:p>
        </p:txBody>
      </p:sp>
      <p:sp>
        <p:nvSpPr>
          <p:cNvPr id="4" name="TextBox 3"/>
          <p:cNvSpPr txBox="1"/>
          <p:nvPr/>
        </p:nvSpPr>
        <p:spPr>
          <a:xfrm>
            <a:off x="822960" y="2514600"/>
            <a:ext cx="10515600" cy="1280160"/>
          </a:xfrm>
          <a:prstGeom prst="rect">
            <a:avLst/>
          </a:prstGeom>
          <a:noFill/>
        </p:spPr>
        <p:txBody>
          <a:bodyPr wrap="square" anchor="t" lIns="0" rIns="0" tIns="0" bIns="0">
            <a:spAutoFit/>
          </a:bodyPr>
          <a:lstStyle/>
          <a:p>
            <a:pPr algn="r" rtl="1"/>
            <a:r>
              <a:rPr sz="5400" b="1" i="0" lang="he-IL">
                <a:solidFill>
                  <a:srgbClr val="FFFFFF"/>
                </a:solidFill>
                <a:latin typeface="Arial"/>
              </a:rPr>
              <a:t>האימפריה</a:t>
            </a:r>
          </a:p>
        </p:txBody>
      </p:sp>
      <p:sp>
        <p:nvSpPr>
          <p:cNvPr id="5" name="TextBox 4"/>
          <p:cNvSpPr txBox="1"/>
          <p:nvPr/>
        </p:nvSpPr>
        <p:spPr>
          <a:xfrm>
            <a:off x="822960" y="3886200"/>
            <a:ext cx="10515600" cy="731520"/>
          </a:xfrm>
          <a:prstGeom prst="rect">
            <a:avLst/>
          </a:prstGeom>
          <a:noFill/>
        </p:spPr>
        <p:txBody>
          <a:bodyPr wrap="square" anchor="t" lIns="0" rIns="0" tIns="0" bIns="0">
            <a:spAutoFit/>
          </a:bodyPr>
          <a:lstStyle/>
          <a:p>
            <a:pPr algn="r" rtl="1"/>
            <a:r>
              <a:rPr sz="1800" b="0" i="0" lang="he-IL">
                <a:solidFill>
                  <a:srgbClr val="FAD9DB"/>
                </a:solidFill>
                <a:latin typeface="Arial"/>
              </a:rPr>
              <a:t>מי היא CBC, איך היא נבנתה, וכמה היא שולטת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11B22"/>
        </a:solidFill>
        <a:effectLst/>
      </p:bgPr>
    </p:bg>
    <p:spTree>
      <p:nvGrpSpPr>
        <p:cNvPr id="1" name=""/>
        <p:cNvGrpSpPr/>
        <p:nvPr/>
      </p:nvGrpSpPr>
      <p:grpSpPr/>
      <p:sp>
        <p:nvSpPr>
          <p:cNvPr id="2" name="Oval 1"/>
          <p:cNvSpPr/>
          <p:nvPr/>
        </p:nvSpPr>
        <p:spPr>
          <a:xfrm>
            <a:off x="-2011680" y="4572000"/>
            <a:ext cx="16184880" cy="5852160"/>
          </a:xfrm>
          <a:prstGeom prst="ellipse">
            <a:avLst/>
          </a:prstGeom>
          <a:solidFill>
            <a:srgbClr val="B3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0" y="1234440"/>
            <a:ext cx="3291840" cy="4297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481328" y="1463040"/>
            <a:ext cx="2889504" cy="3520440"/>
          </a:xfrm>
          <a:prstGeom prst="roundRect">
            <a:avLst>
              <a:gd name="adj" fmla="val 4000"/>
            </a:avLst>
          </a:prstGeom>
          <a:solidFill>
            <a:srgbClr val="EA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81328" y="2609088"/>
            <a:ext cx="2889504" cy="45720"/>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81328" y="3782568"/>
            <a:ext cx="2889504" cy="45720"/>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81328" y="4956048"/>
            <a:ext cx="2889504" cy="45720"/>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783080" y="1691640"/>
            <a:ext cx="256032" cy="86868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31720" y="1691640"/>
            <a:ext cx="256032" cy="86868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0360" y="1691640"/>
            <a:ext cx="256032" cy="86868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691640"/>
            <a:ext cx="256032" cy="86868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977639" y="1691640"/>
            <a:ext cx="256032" cy="86868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920239" y="3017520"/>
            <a:ext cx="237744" cy="777240"/>
          </a:xfrm>
          <a:prstGeom prst="roundRect">
            <a:avLst>
              <a:gd name="adj" fmla="val 3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514600" y="3017520"/>
            <a:ext cx="237744" cy="777240"/>
          </a:xfrm>
          <a:prstGeom prst="roundRect">
            <a:avLst>
              <a:gd name="adj" fmla="val 3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108960" y="3017520"/>
            <a:ext cx="237744" cy="777240"/>
          </a:xfrm>
          <a:prstGeom prst="roundRect">
            <a:avLst>
              <a:gd name="adj" fmla="val 3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03320" y="3017520"/>
            <a:ext cx="237744" cy="777240"/>
          </a:xfrm>
          <a:prstGeom prst="roundRect">
            <a:avLst>
              <a:gd name="adj" fmla="val 3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828800" y="4206240"/>
            <a:ext cx="237744" cy="77724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23160" y="4206240"/>
            <a:ext cx="237744" cy="77724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17520" y="4206240"/>
            <a:ext cx="237744" cy="77724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11879" y="4206240"/>
            <a:ext cx="237744" cy="777240"/>
          </a:xfrm>
          <a:prstGeom prst="roundRect">
            <a:avLst>
              <a:gd name="adj" fmla="val 30000"/>
            </a:avLst>
          </a:prstGeom>
          <a:solidFill>
            <a:srgbClr val="E1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07408" y="2057400"/>
            <a:ext cx="73152" cy="2194560"/>
          </a:xfrm>
          <a:prstGeom prst="roundRect">
            <a:avLst>
              <a:gd name="adj" fmla="val 40000"/>
            </a:avLst>
          </a:prstGeom>
          <a:solidFill>
            <a:srgbClr val="C0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737360"/>
            <a:ext cx="6400800" cy="3291840"/>
          </a:xfrm>
          <a:prstGeom prst="rect">
            <a:avLst/>
          </a:prstGeom>
          <a:noFill/>
        </p:spPr>
        <p:txBody>
          <a:bodyPr wrap="square" anchor="ctr" lIns="0" rIns="0" tIns="0" bIns="0">
            <a:spAutoFit/>
          </a:bodyPr>
          <a:lstStyle/>
          <a:p>
            <a:pPr algn="r" rtl="1"/>
            <a:r>
              <a:rPr sz="3800" b="1" i="0" lang="he-IL">
                <a:solidFill>
                  <a:srgbClr val="FFFFFF"/>
                </a:solidFill>
                <a:latin typeface="Arial"/>
              </a:rPr>
              <a:t>הכול במקרר הזה שייך לחברה אחת.</a:t>
            </a:r>
          </a:p>
          <a:p>
            <a:pPr algn="r" rtl="1">
              <a:spcBef>
                <a:spcPts val="1400"/>
              </a:spcBef>
            </a:pPr>
            <a:r>
              <a:rPr sz="2200" b="0" i="0" lang="he-IL">
                <a:solidFill>
                  <a:srgbClr val="FBD9DB"/>
                </a:solidFill>
                <a:latin typeface="Arial"/>
              </a:rPr>
              <a:t>המשקה. המקרר. השלט. התפריט.</a:t>
            </a:r>
          </a:p>
          <a:p>
            <a:pPr algn="r" rtl="1">
              <a:spcBef>
                <a:spcPts val="600"/>
              </a:spcBef>
            </a:pPr>
            <a:r>
              <a:rPr sz="2200" b="0" i="0" lang="he-IL">
                <a:solidFill>
                  <a:srgbClr val="FBD9DB"/>
                </a:solidFill>
                <a:latin typeface="Arial"/>
              </a:rPr>
              <a:t>ואת המקרר, ששווה אלפי שקלים, היא נתנה בחינם.</a:t>
            </a:r>
          </a:p>
          <a:p>
            <a:pPr algn="r" rtl="1">
              <a:spcBef>
                <a:spcPts val="1400"/>
              </a:spcBef>
            </a:pPr>
            <a:r>
              <a:rPr sz="2400" b="1" i="0" lang="he-IL">
                <a:solidFill>
                  <a:srgbClr val="FFFFFF"/>
                </a:solidFill>
                <a:latin typeface="Arial"/>
              </a:rPr>
              <a:t>זו לא נדיבות. זו אסטרטגיה.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הסיפור: סוכן מוסד שקנה את קוקה-קולה</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איך עורך דין יליד ירושלים הפך את הזיכיון לאימפריה</a:t>
            </a:r>
          </a:p>
        </p:txBody>
      </p:sp>
      <p:sp>
        <p:nvSpPr>
          <p:cNvPr id="4" name="TextBox 3"/>
          <p:cNvSpPr txBox="1"/>
          <p:nvPr/>
        </p:nvSpPr>
        <p:spPr>
          <a:xfrm>
            <a:off x="4572000" y="2240280"/>
            <a:ext cx="6446520" cy="3291840"/>
          </a:xfrm>
          <a:prstGeom prst="rect">
            <a:avLst/>
          </a:prstGeom>
          <a:noFill/>
        </p:spPr>
        <p:txBody>
          <a:bodyPr wrap="square" anchor="ctr" lIns="0" rIns="0" tIns="0" bIns="0">
            <a:spAutoFit/>
          </a:bodyPr>
          <a:lstStyle/>
          <a:p>
            <a:pPr algn="r" rtl="1">
              <a:spcAft>
                <a:spcPts val="1400"/>
              </a:spcAft>
            </a:pPr>
            <a:r>
              <a:rPr sz="1800" b="0" i="0" lang="he-IL">
                <a:solidFill>
                  <a:srgbClr val="1A1A1A"/>
                </a:solidFill>
                <a:latin typeface="Arial"/>
              </a:rPr>
              <a:t>בשנת 1967 זכה מוזי ורטהיים, עורך דין יליד ירושלים ואיש מוסד לשעבר, יחד עם המשקיע האמריקאי אברהם פיינברג, בזיכיון הבלעדי לייצור Coca-Cola בישראל.</a:t>
            </a:r>
          </a:p>
          <a:p>
            <a:pPr algn="r" rtl="1"/>
            <a:r>
              <a:rPr sz="1800" b="0" i="0" lang="he-IL">
                <a:solidFill>
                  <a:srgbClr val="6B6B6B"/>
                </a:solidFill>
                <a:latin typeface="Arial"/>
              </a:rPr>
              <a:t>ב-2001 רכש ורטהיים את חלקו של פיינברג והפך לבעלים היחיד של החברה. רווחי הקולה מימנו אימפריה עסקית שלמה.</a:t>
            </a:r>
          </a:p>
        </p:txBody>
      </p:sp>
      <p:sp>
        <p:nvSpPr>
          <p:cNvPr id="5" name="Rounded Rectangle 4"/>
          <p:cNvSpPr/>
          <p:nvPr/>
        </p:nvSpPr>
        <p:spPr>
          <a:xfrm>
            <a:off x="1161288" y="2286000"/>
            <a:ext cx="1572768" cy="3108960"/>
          </a:xfrm>
          <a:prstGeom prst="roundRect">
            <a:avLst>
              <a:gd name="adj" fmla="val 6000"/>
            </a:avLst>
          </a:prstGeom>
          <a:solidFill>
            <a:srgbClr val="E11B22"/>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98448" y="2487168"/>
            <a:ext cx="1298448" cy="2331720"/>
          </a:xfrm>
          <a:prstGeom prst="rect">
            <a:avLst/>
          </a:prstGeom>
          <a:noFill/>
        </p:spPr>
        <p:txBody>
          <a:bodyPr wrap="none" anchor="ctr" lIns="0" rIns="0" tIns="0" bIns="0">
            <a:spAutoFit/>
          </a:bodyPr>
          <a:lstStyle/>
          <a:p>
            <a:pPr algn="ctr" rtl="0"/>
            <a:r>
              <a:rPr sz="4000" b="1" i="0" lang="en-US">
                <a:solidFill>
                  <a:srgbClr val="FFFFFF"/>
                </a:solidFill>
                <a:latin typeface="Arial"/>
              </a:rPr>
              <a:t>1967</a:t>
            </a:r>
          </a:p>
        </p:txBody>
      </p:sp>
      <p:sp>
        <p:nvSpPr>
          <p:cNvPr id="7" name="TextBox 6"/>
          <p:cNvSpPr txBox="1"/>
          <p:nvPr/>
        </p:nvSpPr>
        <p:spPr>
          <a:xfrm>
            <a:off x="1298448" y="4754880"/>
            <a:ext cx="1298448" cy="548640"/>
          </a:xfrm>
          <a:prstGeom prst="rect">
            <a:avLst/>
          </a:prstGeom>
          <a:noFill/>
        </p:spPr>
        <p:txBody>
          <a:bodyPr wrap="square" anchor="t" lIns="0" rIns="0" tIns="0" bIns="0">
            <a:spAutoFit/>
          </a:bodyPr>
          <a:lstStyle/>
          <a:p>
            <a:pPr algn="ctr" rtl="1"/>
            <a:r>
              <a:rPr sz="1250" b="0" i="0" lang="he-IL">
                <a:solidFill>
                  <a:srgbClr val="D9D9D9"/>
                </a:solidFill>
                <a:latin typeface="Arial"/>
              </a:rPr>
              <a:t>זכייה בזיכיון, יחד עם אברהם פיינברג</a:t>
            </a:r>
          </a:p>
        </p:txBody>
      </p:sp>
      <p:sp>
        <p:nvSpPr>
          <p:cNvPr id="8" name="Rounded Rectangle 7"/>
          <p:cNvSpPr/>
          <p:nvPr/>
        </p:nvSpPr>
        <p:spPr>
          <a:xfrm>
            <a:off x="2825496" y="2286000"/>
            <a:ext cx="1572768" cy="3108960"/>
          </a:xfrm>
          <a:prstGeom prst="roundRect">
            <a:avLst>
              <a:gd name="adj" fmla="val 6000"/>
            </a:avLst>
          </a:prstGeom>
          <a:solidFill>
            <a:srgbClr val="1A1A1A"/>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62656" y="2487168"/>
            <a:ext cx="1298448" cy="2331720"/>
          </a:xfrm>
          <a:prstGeom prst="rect">
            <a:avLst/>
          </a:prstGeom>
          <a:noFill/>
        </p:spPr>
        <p:txBody>
          <a:bodyPr wrap="none" anchor="ctr" lIns="0" rIns="0" tIns="0" bIns="0">
            <a:spAutoFit/>
          </a:bodyPr>
          <a:lstStyle/>
          <a:p>
            <a:pPr algn="ctr" rtl="0"/>
            <a:r>
              <a:rPr sz="4000" b="1" i="0" lang="en-US">
                <a:solidFill>
                  <a:srgbClr val="FFFFFF"/>
                </a:solidFill>
                <a:latin typeface="Arial"/>
              </a:rPr>
              <a:t>2001</a:t>
            </a:r>
          </a:p>
        </p:txBody>
      </p:sp>
      <p:sp>
        <p:nvSpPr>
          <p:cNvPr id="10" name="TextBox 9"/>
          <p:cNvSpPr txBox="1"/>
          <p:nvPr/>
        </p:nvSpPr>
        <p:spPr>
          <a:xfrm>
            <a:off x="2962656" y="4754880"/>
            <a:ext cx="1298448" cy="548640"/>
          </a:xfrm>
          <a:prstGeom prst="rect">
            <a:avLst/>
          </a:prstGeom>
          <a:noFill/>
        </p:spPr>
        <p:txBody>
          <a:bodyPr wrap="square" anchor="t" lIns="0" rIns="0" tIns="0" bIns="0">
            <a:spAutoFit/>
          </a:bodyPr>
          <a:lstStyle/>
          <a:p>
            <a:pPr algn="ctr" rtl="1"/>
            <a:r>
              <a:rPr sz="1250" b="0" i="0" lang="he-IL">
                <a:solidFill>
                  <a:srgbClr val="D9D9D9"/>
                </a:solidFill>
                <a:latin typeface="Arial"/>
              </a:rPr>
              <a:t>ורטהיים הופך לבעלים היחיד</a:t>
            </a:r>
          </a:p>
        </p:txBody>
      </p:sp>
      <p:sp>
        <p:nvSpPr>
          <p:cNvPr id="11" name="Oval 10"/>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ציבורית מאומתת</a:t>
            </a:r>
          </a:p>
        </p:txBody>
      </p:sp>
      <p:sp>
        <p:nvSpPr>
          <p:cNvPr id="13" name="TextBox 12"/>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14" name="TextBox 13"/>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מאימפריה אישית לקבוצה משפחתית</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ב-2013 העביר ורטהיים את השליטה לילדיו, עוד בחייו</a:t>
            </a:r>
          </a:p>
        </p:txBody>
      </p:sp>
      <p:sp>
        <p:nvSpPr>
          <p:cNvPr id="4" name="Rounded Rectangle 3"/>
          <p:cNvSpPr/>
          <p:nvPr/>
        </p:nvSpPr>
        <p:spPr>
          <a:xfrm>
            <a:off x="5989320" y="2194560"/>
            <a:ext cx="3383280" cy="210312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72200" y="2377440"/>
            <a:ext cx="3017520" cy="640080"/>
          </a:xfrm>
          <a:prstGeom prst="rect">
            <a:avLst/>
          </a:prstGeom>
          <a:noFill/>
        </p:spPr>
        <p:txBody>
          <a:bodyPr wrap="square" anchor="ctr" lIns="0" rIns="0" tIns="0" bIns="0">
            <a:spAutoFit/>
          </a:bodyPr>
          <a:lstStyle/>
          <a:p>
            <a:pPr algn="ctr" rtl="0"/>
            <a:r>
              <a:rPr sz="3400" b="1" i="0" lang="en-US">
                <a:solidFill>
                  <a:srgbClr val="E11B22"/>
                </a:solidFill>
                <a:latin typeface="Arial"/>
              </a:rPr>
              <a:t>63%</a:t>
            </a:r>
          </a:p>
        </p:txBody>
      </p:sp>
      <p:sp>
        <p:nvSpPr>
          <p:cNvPr id="6" name="TextBox 5"/>
          <p:cNvSpPr txBox="1"/>
          <p:nvPr/>
        </p:nvSpPr>
        <p:spPr>
          <a:xfrm>
            <a:off x="6172200" y="3063240"/>
            <a:ext cx="3017520" cy="457200"/>
          </a:xfrm>
          <a:prstGeom prst="rect">
            <a:avLst/>
          </a:prstGeom>
          <a:noFill/>
        </p:spPr>
        <p:txBody>
          <a:bodyPr wrap="square" anchor="ctr" lIns="0" rIns="0" tIns="0" bIns="0">
            <a:spAutoFit/>
          </a:bodyPr>
          <a:lstStyle/>
          <a:p>
            <a:pPr algn="ctr" rtl="1"/>
            <a:r>
              <a:rPr sz="1900" b="1" i="0" lang="he-IL">
                <a:solidFill>
                  <a:srgbClr val="1A1A1A"/>
                </a:solidFill>
                <a:latin typeface="Arial"/>
              </a:rPr>
              <a:t>דויד ורטהיים</a:t>
            </a:r>
          </a:p>
        </p:txBody>
      </p:sp>
      <p:sp>
        <p:nvSpPr>
          <p:cNvPr id="7" name="TextBox 6"/>
          <p:cNvSpPr txBox="1"/>
          <p:nvPr/>
        </p:nvSpPr>
        <p:spPr>
          <a:xfrm>
            <a:off x="6172200" y="3611880"/>
            <a:ext cx="3017520" cy="502920"/>
          </a:xfrm>
          <a:prstGeom prst="rect">
            <a:avLst/>
          </a:prstGeom>
          <a:noFill/>
        </p:spPr>
        <p:txBody>
          <a:bodyPr wrap="square" anchor="t" lIns="0" rIns="0" tIns="0" bIns="0">
            <a:spAutoFit/>
          </a:bodyPr>
          <a:lstStyle/>
          <a:p>
            <a:pPr algn="ctr" rtl="1"/>
            <a:r>
              <a:rPr sz="1400" b="0" i="0" lang="he-IL">
                <a:solidFill>
                  <a:srgbClr val="6B6B6B"/>
                </a:solidFill>
                <a:latin typeface="Arial"/>
              </a:rPr>
              <a:t>יושב ראש החברה, מנהל אותה כיום</a:t>
            </a:r>
          </a:p>
        </p:txBody>
      </p:sp>
      <p:sp>
        <p:nvSpPr>
          <p:cNvPr id="8" name="Rounded Rectangle 7"/>
          <p:cNvSpPr/>
          <p:nvPr/>
        </p:nvSpPr>
        <p:spPr>
          <a:xfrm>
            <a:off x="2331720" y="2194560"/>
            <a:ext cx="3383280" cy="210312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4600" y="2377440"/>
            <a:ext cx="3017520" cy="640080"/>
          </a:xfrm>
          <a:prstGeom prst="rect">
            <a:avLst/>
          </a:prstGeom>
          <a:noFill/>
        </p:spPr>
        <p:txBody>
          <a:bodyPr wrap="square" anchor="ctr" lIns="0" rIns="0" tIns="0" bIns="0">
            <a:spAutoFit/>
          </a:bodyPr>
          <a:lstStyle/>
          <a:p>
            <a:pPr algn="ctr" rtl="0"/>
            <a:r>
              <a:rPr sz="3400" b="1" i="0" lang="en-US">
                <a:solidFill>
                  <a:srgbClr val="E11B22"/>
                </a:solidFill>
                <a:latin typeface="Arial"/>
              </a:rPr>
              <a:t>37%</a:t>
            </a:r>
          </a:p>
        </p:txBody>
      </p:sp>
      <p:sp>
        <p:nvSpPr>
          <p:cNvPr id="10" name="TextBox 9"/>
          <p:cNvSpPr txBox="1"/>
          <p:nvPr/>
        </p:nvSpPr>
        <p:spPr>
          <a:xfrm>
            <a:off x="2514600" y="3063240"/>
            <a:ext cx="3017520" cy="457200"/>
          </a:xfrm>
          <a:prstGeom prst="rect">
            <a:avLst/>
          </a:prstGeom>
          <a:noFill/>
        </p:spPr>
        <p:txBody>
          <a:bodyPr wrap="square" anchor="ctr" lIns="0" rIns="0" tIns="0" bIns="0">
            <a:spAutoFit/>
          </a:bodyPr>
          <a:lstStyle/>
          <a:p>
            <a:pPr algn="ctr" rtl="1"/>
            <a:r>
              <a:rPr sz="1900" b="1" i="0" lang="he-IL">
                <a:solidFill>
                  <a:srgbClr val="1A1A1A"/>
                </a:solidFill>
                <a:latin typeface="Arial"/>
              </a:rPr>
              <a:t>דרורית ורטהיים</a:t>
            </a:r>
          </a:p>
        </p:txBody>
      </p:sp>
      <p:sp>
        <p:nvSpPr>
          <p:cNvPr id="11" name="TextBox 10"/>
          <p:cNvSpPr txBox="1"/>
          <p:nvPr/>
        </p:nvSpPr>
        <p:spPr>
          <a:xfrm>
            <a:off x="2514600" y="3611880"/>
            <a:ext cx="3017520" cy="502920"/>
          </a:xfrm>
          <a:prstGeom prst="rect">
            <a:avLst/>
          </a:prstGeom>
          <a:noFill/>
        </p:spPr>
        <p:txBody>
          <a:bodyPr wrap="square" anchor="t" lIns="0" rIns="0" tIns="0" bIns="0">
            <a:spAutoFit/>
          </a:bodyPr>
          <a:lstStyle/>
          <a:p>
            <a:pPr algn="ctr" rtl="1"/>
            <a:r>
              <a:rPr sz="1400" b="0" i="0" lang="he-IL">
                <a:solidFill>
                  <a:srgbClr val="6B6B6B"/>
                </a:solidFill>
                <a:latin typeface="Arial"/>
              </a:rPr>
              <a:t>דירקטורית בחברה</a:t>
            </a:r>
          </a:p>
        </p:txBody>
      </p:sp>
      <p:sp>
        <p:nvSpPr>
          <p:cNvPr id="12" name="Rounded Rectangle 11"/>
          <p:cNvSpPr/>
          <p:nvPr/>
        </p:nvSpPr>
        <p:spPr>
          <a:xfrm>
            <a:off x="1161288" y="4572000"/>
            <a:ext cx="9857232" cy="1097280"/>
          </a:xfrm>
          <a:prstGeom prst="roundRect">
            <a:avLst>
              <a:gd name="adj" fmla="val 6000"/>
            </a:avLst>
          </a:prstGeom>
          <a:solidFill>
            <a:srgbClr val="FAFAFA"/>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4572000"/>
            <a:ext cx="9436608" cy="1097280"/>
          </a:xfrm>
          <a:prstGeom prst="rect">
            <a:avLst/>
          </a:prstGeom>
          <a:noFill/>
        </p:spPr>
        <p:txBody>
          <a:bodyPr wrap="square" anchor="ctr" lIns="0" rIns="0" tIns="0" bIns="0">
            <a:spAutoFit/>
          </a:bodyPr>
          <a:lstStyle/>
          <a:p>
            <a:pPr algn="r" rtl="1">
              <a:spcAft>
                <a:spcPts val="400"/>
              </a:spcAft>
            </a:pPr>
            <a:r>
              <a:rPr sz="1500" b="0" i="0" lang="he-IL">
                <a:solidFill>
                  <a:srgbClr val="1A1A1A"/>
                </a:solidFill>
                <a:latin typeface="Arial"/>
              </a:rPr>
              <a:t>מעבר לקוקה-קולה, ורטהיים בנה אימפריה: כ-22% מבנק מזרחי-טפחות, כ-51% מזכיינית קשת 12, ואחזקות נדל"ן.</a:t>
            </a:r>
          </a:p>
          <a:p>
            <a:pPr algn="r" rtl="1"/>
            <a:r>
              <a:rPr sz="1500" b="1" i="0" lang="he-IL">
                <a:solidFill>
                  <a:srgbClr val="E11B22"/>
                </a:solidFill>
                <a:latin typeface="Arial"/>
              </a:rPr>
              <a:t>עד היום החברה נותרה פרטית ובבעלות מלאה של משפחת ורטהיים.</a:t>
            </a:r>
          </a:p>
        </p:txBody>
      </p:sp>
      <p:sp>
        <p:nvSpPr>
          <p:cNvPr id="14" name="Oval 13"/>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ציבורית מאומתת</a:t>
            </a:r>
          </a:p>
        </p:txBody>
      </p:sp>
      <p:sp>
        <p:nvSpPr>
          <p:cNvPr id="16" name="TextBox 15"/>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17" name="TextBox 16"/>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האימפריה היום: פורטפוליו והיקף</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קבוצת מזון ומשקאות מלאה, לא רק יצרנית קולה</a:t>
            </a:r>
          </a:p>
        </p:txBody>
      </p:sp>
      <p:sp>
        <p:nvSpPr>
          <p:cNvPr id="4" name="Rounded Rectangle 3"/>
          <p:cNvSpPr/>
          <p:nvPr/>
        </p:nvSpPr>
        <p:spPr>
          <a:xfrm>
            <a:off x="1161288" y="2057400"/>
            <a:ext cx="2395728" cy="137160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ndustry_red.png"/>
          <p:cNvPicPr>
            <a:picLocks noChangeAspect="1"/>
          </p:cNvPicPr>
          <p:nvPr/>
        </p:nvPicPr>
        <p:blipFill>
          <a:blip r:embed="rId2"/>
          <a:stretch>
            <a:fillRect/>
          </a:stretch>
        </p:blipFill>
        <p:spPr>
          <a:xfrm>
            <a:off x="1362456" y="2350008"/>
            <a:ext cx="457200" cy="457200"/>
          </a:xfrm>
          <a:prstGeom prst="rect">
            <a:avLst/>
          </a:prstGeom>
        </p:spPr>
      </p:pic>
      <p:sp>
        <p:nvSpPr>
          <p:cNvPr id="6" name="TextBox 5"/>
          <p:cNvSpPr txBox="1"/>
          <p:nvPr/>
        </p:nvSpPr>
        <p:spPr>
          <a:xfrm>
            <a:off x="1874519" y="2258568"/>
            <a:ext cx="1572768" cy="548640"/>
          </a:xfrm>
          <a:prstGeom prst="rect">
            <a:avLst/>
          </a:prstGeom>
          <a:noFill/>
        </p:spPr>
        <p:txBody>
          <a:bodyPr wrap="square" anchor="ctr" lIns="0" rIns="0" tIns="0" bIns="0">
            <a:spAutoFit/>
          </a:bodyPr>
          <a:lstStyle/>
          <a:p>
            <a:pPr algn="r" rtl="0"/>
            <a:r>
              <a:rPr sz="2400" b="1" i="0" lang="en-US">
                <a:solidFill>
                  <a:srgbClr val="E11B22"/>
                </a:solidFill>
                <a:latin typeface="Arial"/>
              </a:rPr>
              <a:t>2</a:t>
            </a:r>
          </a:p>
        </p:txBody>
      </p:sp>
      <p:sp>
        <p:nvSpPr>
          <p:cNvPr id="7" name="TextBox 6"/>
          <p:cNvSpPr txBox="1"/>
          <p:nvPr/>
        </p:nvSpPr>
        <p:spPr>
          <a:xfrm>
            <a:off x="1289304" y="2898648"/>
            <a:ext cx="2139696" cy="457200"/>
          </a:xfrm>
          <a:prstGeom prst="rect">
            <a:avLst/>
          </a:prstGeom>
          <a:noFill/>
        </p:spPr>
        <p:txBody>
          <a:bodyPr wrap="square" anchor="t" lIns="0" rIns="0" tIns="0" bIns="0">
            <a:spAutoFit/>
          </a:bodyPr>
          <a:lstStyle/>
          <a:p>
            <a:pPr algn="r" rtl="1"/>
            <a:r>
              <a:rPr sz="1100" b="0" i="0" lang="he-IL">
                <a:solidFill>
                  <a:srgbClr val="6B6B6B"/>
                </a:solidFill>
                <a:latin typeface="Arial"/>
              </a:rPr>
              <a:t>מפעלי ייצור (בני ברק, קריית גת)</a:t>
            </a:r>
          </a:p>
        </p:txBody>
      </p:sp>
      <p:sp>
        <p:nvSpPr>
          <p:cNvPr id="8" name="Rounded Rectangle 7"/>
          <p:cNvSpPr/>
          <p:nvPr/>
        </p:nvSpPr>
        <p:spPr>
          <a:xfrm>
            <a:off x="3739896" y="2057400"/>
            <a:ext cx="2395728" cy="137160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ttle_red.png"/>
          <p:cNvPicPr>
            <a:picLocks noChangeAspect="1"/>
          </p:cNvPicPr>
          <p:nvPr/>
        </p:nvPicPr>
        <p:blipFill>
          <a:blip r:embed="rId3"/>
          <a:stretch>
            <a:fillRect/>
          </a:stretch>
        </p:blipFill>
        <p:spPr>
          <a:xfrm>
            <a:off x="3941063" y="2350008"/>
            <a:ext cx="457200" cy="457200"/>
          </a:xfrm>
          <a:prstGeom prst="rect">
            <a:avLst/>
          </a:prstGeom>
        </p:spPr>
      </p:pic>
      <p:sp>
        <p:nvSpPr>
          <p:cNvPr id="10" name="TextBox 9"/>
          <p:cNvSpPr txBox="1"/>
          <p:nvPr/>
        </p:nvSpPr>
        <p:spPr>
          <a:xfrm>
            <a:off x="4453128" y="2258568"/>
            <a:ext cx="1572768" cy="548640"/>
          </a:xfrm>
          <a:prstGeom prst="rect">
            <a:avLst/>
          </a:prstGeom>
          <a:noFill/>
        </p:spPr>
        <p:txBody>
          <a:bodyPr wrap="square" anchor="ctr" lIns="0" rIns="0" tIns="0" bIns="0">
            <a:spAutoFit/>
          </a:bodyPr>
          <a:lstStyle/>
          <a:p>
            <a:pPr algn="r" rtl="0"/>
            <a:r>
              <a:rPr sz="2400" b="1" i="0" lang="en-US">
                <a:solidFill>
                  <a:srgbClr val="E11B22"/>
                </a:solidFill>
                <a:latin typeface="Arial"/>
              </a:rPr>
              <a:t>1M+</a:t>
            </a:r>
          </a:p>
        </p:txBody>
      </p:sp>
      <p:sp>
        <p:nvSpPr>
          <p:cNvPr id="11" name="TextBox 10"/>
          <p:cNvSpPr txBox="1"/>
          <p:nvPr/>
        </p:nvSpPr>
        <p:spPr>
          <a:xfrm>
            <a:off x="3867911" y="2898648"/>
            <a:ext cx="2139696" cy="457200"/>
          </a:xfrm>
          <a:prstGeom prst="rect">
            <a:avLst/>
          </a:prstGeom>
          <a:noFill/>
        </p:spPr>
        <p:txBody>
          <a:bodyPr wrap="square" anchor="t" lIns="0" rIns="0" tIns="0" bIns="0">
            <a:spAutoFit/>
          </a:bodyPr>
          <a:lstStyle/>
          <a:p>
            <a:pPr algn="r" rtl="1"/>
            <a:r>
              <a:rPr sz="1100" b="0" i="0" lang="he-IL">
                <a:solidFill>
                  <a:srgbClr val="6B6B6B"/>
                </a:solidFill>
                <a:latin typeface="Arial"/>
              </a:rPr>
              <a:t>אריזות משקה ביום</a:t>
            </a:r>
          </a:p>
        </p:txBody>
      </p:sp>
      <p:sp>
        <p:nvSpPr>
          <p:cNvPr id="12" name="Rounded Rectangle 11"/>
          <p:cNvSpPr/>
          <p:nvPr/>
        </p:nvSpPr>
        <p:spPr>
          <a:xfrm>
            <a:off x="6318504" y="2057400"/>
            <a:ext cx="2395728" cy="137160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_red.png"/>
          <p:cNvPicPr>
            <a:picLocks noChangeAspect="1"/>
          </p:cNvPicPr>
          <p:nvPr/>
        </p:nvPicPr>
        <p:blipFill>
          <a:blip r:embed="rId4"/>
          <a:stretch>
            <a:fillRect/>
          </a:stretch>
        </p:blipFill>
        <p:spPr>
          <a:xfrm>
            <a:off x="6519672" y="2350008"/>
            <a:ext cx="457200" cy="457200"/>
          </a:xfrm>
          <a:prstGeom prst="rect">
            <a:avLst/>
          </a:prstGeom>
        </p:spPr>
      </p:pic>
      <p:sp>
        <p:nvSpPr>
          <p:cNvPr id="14" name="TextBox 13"/>
          <p:cNvSpPr txBox="1"/>
          <p:nvPr/>
        </p:nvSpPr>
        <p:spPr>
          <a:xfrm>
            <a:off x="7031736" y="2258568"/>
            <a:ext cx="1572768" cy="548640"/>
          </a:xfrm>
          <a:prstGeom prst="rect">
            <a:avLst/>
          </a:prstGeom>
          <a:noFill/>
        </p:spPr>
        <p:txBody>
          <a:bodyPr wrap="square" anchor="ctr" lIns="0" rIns="0" tIns="0" bIns="0">
            <a:spAutoFit/>
          </a:bodyPr>
          <a:lstStyle/>
          <a:p>
            <a:pPr algn="r" rtl="0"/>
            <a:r>
              <a:rPr sz="2400" b="1" i="0" lang="en-US">
                <a:solidFill>
                  <a:srgbClr val="E11B22"/>
                </a:solidFill>
                <a:latin typeface="Arial"/>
              </a:rPr>
              <a:t>~4,700</a:t>
            </a:r>
          </a:p>
        </p:txBody>
      </p:sp>
      <p:sp>
        <p:nvSpPr>
          <p:cNvPr id="15" name="TextBox 14"/>
          <p:cNvSpPr txBox="1"/>
          <p:nvPr/>
        </p:nvSpPr>
        <p:spPr>
          <a:xfrm>
            <a:off x="6446520" y="2898648"/>
            <a:ext cx="2139696" cy="457200"/>
          </a:xfrm>
          <a:prstGeom prst="rect">
            <a:avLst/>
          </a:prstGeom>
          <a:noFill/>
        </p:spPr>
        <p:txBody>
          <a:bodyPr wrap="square" anchor="t" lIns="0" rIns="0" tIns="0" bIns="0">
            <a:spAutoFit/>
          </a:bodyPr>
          <a:lstStyle/>
          <a:p>
            <a:pPr algn="r" rtl="1"/>
            <a:r>
              <a:rPr sz="1100" b="0" i="0" lang="he-IL">
                <a:solidFill>
                  <a:srgbClr val="6B6B6B"/>
                </a:solidFill>
                <a:latin typeface="Arial"/>
              </a:rPr>
              <a:t>עובדים בישראל</a:t>
            </a:r>
          </a:p>
        </p:txBody>
      </p:sp>
      <p:sp>
        <p:nvSpPr>
          <p:cNvPr id="16" name="Rounded Rectangle 15"/>
          <p:cNvSpPr/>
          <p:nvPr/>
        </p:nvSpPr>
        <p:spPr>
          <a:xfrm>
            <a:off x="8897112" y="2057400"/>
            <a:ext cx="2395728" cy="137160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ayers_red.png"/>
          <p:cNvPicPr>
            <a:picLocks noChangeAspect="1"/>
          </p:cNvPicPr>
          <p:nvPr/>
        </p:nvPicPr>
        <p:blipFill>
          <a:blip r:embed="rId5"/>
          <a:stretch>
            <a:fillRect/>
          </a:stretch>
        </p:blipFill>
        <p:spPr>
          <a:xfrm>
            <a:off x="9098280" y="2350008"/>
            <a:ext cx="457200" cy="457200"/>
          </a:xfrm>
          <a:prstGeom prst="rect">
            <a:avLst/>
          </a:prstGeom>
        </p:spPr>
      </p:pic>
      <p:sp>
        <p:nvSpPr>
          <p:cNvPr id="18" name="TextBox 17"/>
          <p:cNvSpPr txBox="1"/>
          <p:nvPr/>
        </p:nvSpPr>
        <p:spPr>
          <a:xfrm>
            <a:off x="9610344" y="2258568"/>
            <a:ext cx="1572768" cy="548640"/>
          </a:xfrm>
          <a:prstGeom prst="rect">
            <a:avLst/>
          </a:prstGeom>
          <a:noFill/>
        </p:spPr>
        <p:txBody>
          <a:bodyPr wrap="square" anchor="ctr" lIns="0" rIns="0" tIns="0" bIns="0">
            <a:spAutoFit/>
          </a:bodyPr>
          <a:lstStyle/>
          <a:p>
            <a:pPr algn="r" rtl="0"/>
            <a:r>
              <a:rPr sz="2400" b="1" i="0" lang="en-US">
                <a:solidFill>
                  <a:srgbClr val="E11B22"/>
                </a:solidFill>
                <a:latin typeface="Arial"/>
              </a:rPr>
              <a:t>9</a:t>
            </a:r>
          </a:p>
        </p:txBody>
      </p:sp>
      <p:sp>
        <p:nvSpPr>
          <p:cNvPr id="19" name="TextBox 18"/>
          <p:cNvSpPr txBox="1"/>
          <p:nvPr/>
        </p:nvSpPr>
        <p:spPr>
          <a:xfrm>
            <a:off x="9025128" y="2898648"/>
            <a:ext cx="2139696" cy="457200"/>
          </a:xfrm>
          <a:prstGeom prst="rect">
            <a:avLst/>
          </a:prstGeom>
          <a:noFill/>
        </p:spPr>
        <p:txBody>
          <a:bodyPr wrap="square" anchor="t" lIns="0" rIns="0" tIns="0" bIns="0">
            <a:spAutoFit/>
          </a:bodyPr>
          <a:lstStyle/>
          <a:p>
            <a:pPr algn="r" rtl="1"/>
            <a:r>
              <a:rPr sz="1100" b="0" i="0" lang="he-IL">
                <a:solidFill>
                  <a:srgbClr val="6B6B6B"/>
                </a:solidFill>
                <a:latin typeface="Arial"/>
              </a:rPr>
              <a:t>קטגוריות מוצרים</a:t>
            </a:r>
          </a:p>
        </p:txBody>
      </p:sp>
      <p:sp>
        <p:nvSpPr>
          <p:cNvPr id="20" name="Rounded Rectangle 19"/>
          <p:cNvSpPr/>
          <p:nvPr/>
        </p:nvSpPr>
        <p:spPr>
          <a:xfrm>
            <a:off x="1161288" y="3657600"/>
            <a:ext cx="9857232" cy="1874519"/>
          </a:xfrm>
          <a:prstGeom prst="roundRect">
            <a:avLst>
              <a:gd name="adj" fmla="val 6000"/>
            </a:avLst>
          </a:prstGeom>
          <a:solidFill>
            <a:srgbClr val="FAFAFA"/>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3767328"/>
            <a:ext cx="9445752" cy="365760"/>
          </a:xfrm>
          <a:prstGeom prst="rect">
            <a:avLst/>
          </a:prstGeom>
          <a:noFill/>
        </p:spPr>
        <p:txBody>
          <a:bodyPr wrap="square" anchor="t" lIns="0" rIns="0" tIns="0" bIns="0">
            <a:spAutoFit/>
          </a:bodyPr>
          <a:lstStyle/>
          <a:p>
            <a:pPr algn="r" rtl="1"/>
            <a:r>
              <a:rPr sz="1350" b="1" i="0" lang="he-IL">
                <a:solidFill>
                  <a:srgbClr val="1A1A1A"/>
                </a:solidFill>
                <a:latin typeface="Arial"/>
              </a:rPr>
              <a:t>פורטפוליו אחד, עשרות מותגים, רובם לא מזוהים כאותה חברה:</a:t>
            </a:r>
          </a:p>
        </p:txBody>
      </p:sp>
      <p:sp>
        <p:nvSpPr>
          <p:cNvPr id="22" name="Rounded Rectangle 21"/>
          <p:cNvSpPr/>
          <p:nvPr/>
        </p:nvSpPr>
        <p:spPr>
          <a:xfrm>
            <a:off x="8942832" y="4224528"/>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34272" y="4224528"/>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Coca-Cola</a:t>
            </a:r>
          </a:p>
        </p:txBody>
      </p:sp>
      <p:sp>
        <p:nvSpPr>
          <p:cNvPr id="24" name="Rounded Rectangle 23"/>
          <p:cNvSpPr/>
          <p:nvPr/>
        </p:nvSpPr>
        <p:spPr>
          <a:xfrm>
            <a:off x="7050023" y="4224528"/>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1463" y="4224528"/>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Sprite</a:t>
            </a:r>
          </a:p>
        </p:txBody>
      </p:sp>
      <p:sp>
        <p:nvSpPr>
          <p:cNvPr id="26" name="Rounded Rectangle 25"/>
          <p:cNvSpPr/>
          <p:nvPr/>
        </p:nvSpPr>
        <p:spPr>
          <a:xfrm>
            <a:off x="5157216" y="4224528"/>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48655" y="4224528"/>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Fanta</a:t>
            </a:r>
          </a:p>
        </p:txBody>
      </p:sp>
      <p:sp>
        <p:nvSpPr>
          <p:cNvPr id="28" name="Rounded Rectangle 27"/>
          <p:cNvSpPr/>
          <p:nvPr/>
        </p:nvSpPr>
        <p:spPr>
          <a:xfrm>
            <a:off x="3264408" y="4224528"/>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55848" y="4224528"/>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Fuze Tea</a:t>
            </a:r>
          </a:p>
        </p:txBody>
      </p:sp>
      <p:sp>
        <p:nvSpPr>
          <p:cNvPr id="30" name="Rounded Rectangle 29"/>
          <p:cNvSpPr/>
          <p:nvPr/>
        </p:nvSpPr>
        <p:spPr>
          <a:xfrm>
            <a:off x="1371600" y="4224528"/>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63040" y="4224528"/>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נביעות</a:t>
            </a:r>
          </a:p>
        </p:txBody>
      </p:sp>
      <p:sp>
        <p:nvSpPr>
          <p:cNvPr id="32" name="Rounded Rectangle 31"/>
          <p:cNvSpPr/>
          <p:nvPr/>
        </p:nvSpPr>
        <p:spPr>
          <a:xfrm>
            <a:off x="8942832" y="4718304"/>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34272" y="4718304"/>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פריגת</a:t>
            </a:r>
          </a:p>
        </p:txBody>
      </p:sp>
      <p:sp>
        <p:nvSpPr>
          <p:cNvPr id="34" name="Rounded Rectangle 33"/>
          <p:cNvSpPr/>
          <p:nvPr/>
        </p:nvSpPr>
        <p:spPr>
          <a:xfrm>
            <a:off x="7050023" y="4718304"/>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41463" y="4718304"/>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טרה</a:t>
            </a:r>
          </a:p>
        </p:txBody>
      </p:sp>
      <p:sp>
        <p:nvSpPr>
          <p:cNvPr id="36" name="Rounded Rectangle 35"/>
          <p:cNvSpPr/>
          <p:nvPr/>
        </p:nvSpPr>
        <p:spPr>
          <a:xfrm>
            <a:off x="5157216" y="4718304"/>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48655" y="4718304"/>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משק צוריאל</a:t>
            </a:r>
          </a:p>
        </p:txBody>
      </p:sp>
      <p:sp>
        <p:nvSpPr>
          <p:cNvPr id="38" name="Rounded Rectangle 37"/>
          <p:cNvSpPr/>
          <p:nvPr/>
        </p:nvSpPr>
        <p:spPr>
          <a:xfrm>
            <a:off x="3264408" y="4718304"/>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55848" y="4718304"/>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Carlsberg</a:t>
            </a:r>
          </a:p>
        </p:txBody>
      </p:sp>
      <p:sp>
        <p:nvSpPr>
          <p:cNvPr id="40" name="Rounded Rectangle 39"/>
          <p:cNvSpPr/>
          <p:nvPr/>
        </p:nvSpPr>
        <p:spPr>
          <a:xfrm>
            <a:off x="1371600" y="4718304"/>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63040" y="4718304"/>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Tuborg</a:t>
            </a:r>
          </a:p>
        </p:txBody>
      </p:sp>
      <p:sp>
        <p:nvSpPr>
          <p:cNvPr id="42" name="Rounded Rectangle 41"/>
          <p:cNvSpPr/>
          <p:nvPr/>
        </p:nvSpPr>
        <p:spPr>
          <a:xfrm>
            <a:off x="8942832" y="5212080"/>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34272" y="5212080"/>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Monster</a:t>
            </a:r>
          </a:p>
        </p:txBody>
      </p:sp>
      <p:sp>
        <p:nvSpPr>
          <p:cNvPr id="44" name="Rounded Rectangle 43"/>
          <p:cNvSpPr/>
          <p:nvPr/>
        </p:nvSpPr>
        <p:spPr>
          <a:xfrm>
            <a:off x="7050023" y="5212080"/>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41463" y="5212080"/>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יקב תבור</a:t>
            </a:r>
          </a:p>
        </p:txBody>
      </p:sp>
      <p:sp>
        <p:nvSpPr>
          <p:cNvPr id="46" name="Rounded Rectangle 45"/>
          <p:cNvSpPr/>
          <p:nvPr/>
        </p:nvSpPr>
        <p:spPr>
          <a:xfrm>
            <a:off x="5157216" y="5212080"/>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48655" y="5212080"/>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נורדיק מיסט</a:t>
            </a:r>
          </a:p>
        </p:txBody>
      </p:sp>
      <p:sp>
        <p:nvSpPr>
          <p:cNvPr id="48" name="Rounded Rectangle 47"/>
          <p:cNvSpPr/>
          <p:nvPr/>
        </p:nvSpPr>
        <p:spPr>
          <a:xfrm>
            <a:off x="3264408" y="5212080"/>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55848" y="5212080"/>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Gat Foods</a:t>
            </a:r>
          </a:p>
        </p:txBody>
      </p:sp>
      <p:sp>
        <p:nvSpPr>
          <p:cNvPr id="50" name="Rounded Rectangle 49"/>
          <p:cNvSpPr/>
          <p:nvPr/>
        </p:nvSpPr>
        <p:spPr>
          <a:xfrm>
            <a:off x="1371600" y="5212080"/>
            <a:ext cx="1801368" cy="384048"/>
          </a:xfrm>
          <a:prstGeom prst="roundRect">
            <a:avLst>
              <a:gd name="adj" fmla="val 12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63040" y="5212080"/>
            <a:ext cx="1618488" cy="384048"/>
          </a:xfrm>
          <a:prstGeom prst="rect">
            <a:avLst/>
          </a:prstGeom>
          <a:noFill/>
        </p:spPr>
        <p:txBody>
          <a:bodyPr wrap="square" anchor="ctr" lIns="0" rIns="0" tIns="0" bIns="0">
            <a:spAutoFit/>
          </a:bodyPr>
          <a:lstStyle/>
          <a:p>
            <a:pPr algn="ctr" rtl="1"/>
            <a:r>
              <a:rPr sz="1200" b="1" i="0" lang="he-IL">
                <a:solidFill>
                  <a:srgbClr val="1A1A1A"/>
                </a:solidFill>
                <a:latin typeface="Arial"/>
              </a:rPr>
              <a:t>קינלי</a:t>
            </a:r>
          </a:p>
        </p:txBody>
      </p:sp>
      <p:sp>
        <p:nvSpPr>
          <p:cNvPr id="52" name="Oval 51"/>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ציבורית מאומתת</a:t>
            </a:r>
          </a:p>
        </p:txBody>
      </p:sp>
      <p:sp>
        <p:nvSpPr>
          <p:cNvPr id="54" name="TextBox 53"/>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55" name="TextBox 54"/>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מי שולט בשוק?</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חברה פרטית אחת, בלי דוחות פומביים, והמספרים מדברים</a:t>
            </a:r>
          </a:p>
        </p:txBody>
      </p:sp>
      <p:sp>
        <p:nvSpPr>
          <p:cNvPr id="4" name="Rounded Rectangle 3"/>
          <p:cNvSpPr/>
          <p:nvPr/>
        </p:nvSpPr>
        <p:spPr>
          <a:xfrm>
            <a:off x="1161288" y="2148840"/>
            <a:ext cx="3154680" cy="224028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52728" y="2514600"/>
            <a:ext cx="2971800" cy="1097280"/>
          </a:xfrm>
          <a:prstGeom prst="rect">
            <a:avLst/>
          </a:prstGeom>
          <a:noFill/>
        </p:spPr>
        <p:txBody>
          <a:bodyPr wrap="square" anchor="ctr" lIns="0" rIns="0" tIns="0" bIns="0">
            <a:spAutoFit/>
          </a:bodyPr>
          <a:lstStyle/>
          <a:p>
            <a:pPr algn="ctr" rtl="0"/>
            <a:r>
              <a:rPr sz="6600" b="1" i="0" lang="en-US">
                <a:solidFill>
                  <a:srgbClr val="E11B22"/>
                </a:solidFill>
                <a:latin typeface="Arial"/>
              </a:rPr>
              <a:t>~90%</a:t>
            </a:r>
          </a:p>
        </p:txBody>
      </p:sp>
      <p:sp>
        <p:nvSpPr>
          <p:cNvPr id="6" name="TextBox 5"/>
          <p:cNvSpPr txBox="1"/>
          <p:nvPr/>
        </p:nvSpPr>
        <p:spPr>
          <a:xfrm>
            <a:off x="1252728" y="3703320"/>
            <a:ext cx="2971800" cy="548640"/>
          </a:xfrm>
          <a:prstGeom prst="rect">
            <a:avLst/>
          </a:prstGeom>
          <a:noFill/>
        </p:spPr>
        <p:txBody>
          <a:bodyPr wrap="square" anchor="ctr" lIns="0" rIns="0" tIns="0" bIns="0">
            <a:spAutoFit/>
          </a:bodyPr>
          <a:lstStyle/>
          <a:p>
            <a:pPr algn="ctr" rtl="1"/>
            <a:r>
              <a:rPr sz="1600" b="0" i="0" lang="he-IL">
                <a:solidFill>
                  <a:srgbClr val="6B6B6B"/>
                </a:solidFill>
                <a:latin typeface="Arial"/>
              </a:rPr>
              <a:t>משוק הקולה בישראל</a:t>
            </a:r>
          </a:p>
        </p:txBody>
      </p:sp>
      <p:sp>
        <p:nvSpPr>
          <p:cNvPr id="7" name="Rounded Rectangle 6"/>
          <p:cNvSpPr/>
          <p:nvPr/>
        </p:nvSpPr>
        <p:spPr>
          <a:xfrm>
            <a:off x="4517136" y="2148840"/>
            <a:ext cx="3154680" cy="224028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2514600"/>
            <a:ext cx="2971800" cy="1097280"/>
          </a:xfrm>
          <a:prstGeom prst="rect">
            <a:avLst/>
          </a:prstGeom>
          <a:noFill/>
        </p:spPr>
        <p:txBody>
          <a:bodyPr wrap="square" anchor="ctr" lIns="0" rIns="0" tIns="0" bIns="0">
            <a:spAutoFit/>
          </a:bodyPr>
          <a:lstStyle/>
          <a:p>
            <a:pPr algn="ctr" rtl="0"/>
            <a:r>
              <a:rPr sz="6600" b="1" i="0" lang="en-US">
                <a:solidFill>
                  <a:srgbClr val="E11B22"/>
                </a:solidFill>
                <a:latin typeface="Arial"/>
              </a:rPr>
              <a:t>~⅔</a:t>
            </a:r>
          </a:p>
        </p:txBody>
      </p:sp>
      <p:sp>
        <p:nvSpPr>
          <p:cNvPr id="9" name="TextBox 8"/>
          <p:cNvSpPr txBox="1"/>
          <p:nvPr/>
        </p:nvSpPr>
        <p:spPr>
          <a:xfrm>
            <a:off x="4608576" y="3703320"/>
            <a:ext cx="2971800" cy="548640"/>
          </a:xfrm>
          <a:prstGeom prst="rect">
            <a:avLst/>
          </a:prstGeom>
          <a:noFill/>
        </p:spPr>
        <p:txBody>
          <a:bodyPr wrap="square" anchor="ctr" lIns="0" rIns="0" tIns="0" bIns="0">
            <a:spAutoFit/>
          </a:bodyPr>
          <a:lstStyle/>
          <a:p>
            <a:pPr algn="ctr" rtl="1"/>
            <a:r>
              <a:rPr sz="1600" b="0" i="0" lang="he-IL">
                <a:solidFill>
                  <a:srgbClr val="6B6B6B"/>
                </a:solidFill>
                <a:latin typeface="Arial"/>
              </a:rPr>
              <a:t>משוק המשקאות הקלים</a:t>
            </a:r>
          </a:p>
        </p:txBody>
      </p:sp>
      <p:sp>
        <p:nvSpPr>
          <p:cNvPr id="10" name="Rounded Rectangle 9"/>
          <p:cNvSpPr/>
          <p:nvPr/>
        </p:nvSpPr>
        <p:spPr>
          <a:xfrm>
            <a:off x="7872983" y="2148840"/>
            <a:ext cx="3154680" cy="224028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64423" y="2514600"/>
            <a:ext cx="2971800" cy="1097280"/>
          </a:xfrm>
          <a:prstGeom prst="rect">
            <a:avLst/>
          </a:prstGeom>
          <a:noFill/>
        </p:spPr>
        <p:txBody>
          <a:bodyPr wrap="square" anchor="ctr" lIns="0" rIns="0" tIns="0" bIns="0">
            <a:spAutoFit/>
          </a:bodyPr>
          <a:lstStyle/>
          <a:p>
            <a:pPr algn="ctr" rtl="0"/>
            <a:r>
              <a:rPr sz="6600" b="1" i="0" lang="en-US">
                <a:solidFill>
                  <a:srgbClr val="E11B22"/>
                </a:solidFill>
                <a:latin typeface="Arial"/>
              </a:rPr>
              <a:t>~75%</a:t>
            </a:r>
          </a:p>
        </p:txBody>
      </p:sp>
      <p:sp>
        <p:nvSpPr>
          <p:cNvPr id="12" name="TextBox 11"/>
          <p:cNvSpPr txBox="1"/>
          <p:nvPr/>
        </p:nvSpPr>
        <p:spPr>
          <a:xfrm>
            <a:off x="7964423" y="3703320"/>
            <a:ext cx="2971800" cy="548640"/>
          </a:xfrm>
          <a:prstGeom prst="rect">
            <a:avLst/>
          </a:prstGeom>
          <a:noFill/>
        </p:spPr>
        <p:txBody>
          <a:bodyPr wrap="square" anchor="ctr" lIns="0" rIns="0" tIns="0" bIns="0">
            <a:spAutoFit/>
          </a:bodyPr>
          <a:lstStyle/>
          <a:p>
            <a:pPr algn="ctr" rtl="1"/>
            <a:r>
              <a:rPr sz="1600" b="0" i="0" lang="he-IL">
                <a:solidFill>
                  <a:srgbClr val="6B6B6B"/>
                </a:solidFill>
                <a:latin typeface="Arial"/>
              </a:rPr>
              <a:t>משוק התה הקר</a:t>
            </a:r>
          </a:p>
        </p:txBody>
      </p:sp>
      <p:sp>
        <p:nvSpPr>
          <p:cNvPr id="13" name="Rounded Rectangle 12"/>
          <p:cNvSpPr/>
          <p:nvPr/>
        </p:nvSpPr>
        <p:spPr>
          <a:xfrm>
            <a:off x="1161288" y="4709160"/>
            <a:ext cx="9866376" cy="868680"/>
          </a:xfrm>
          <a:prstGeom prst="roundRect">
            <a:avLst>
              <a:gd name="adj" fmla="val 6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4709160"/>
            <a:ext cx="9445752" cy="868680"/>
          </a:xfrm>
          <a:prstGeom prst="rect">
            <a:avLst/>
          </a:prstGeom>
          <a:noFill/>
        </p:spPr>
        <p:txBody>
          <a:bodyPr wrap="square" anchor="ctr" lIns="0" rIns="0" tIns="0" bIns="0">
            <a:spAutoFit/>
          </a:bodyPr>
          <a:lstStyle/>
          <a:p>
            <a:pPr algn="ctr" rtl="1"/>
            <a:r>
              <a:rPr sz="1550" b="0" i="0" lang="he-IL">
                <a:solidFill>
                  <a:srgbClr val="1A1A1A"/>
                </a:solidFill>
                <a:latin typeface="Arial"/>
              </a:rPr>
              <a:t>וגם כ-40% מכלל שוק המשקאות בישראל, וכ-40% משוק הבירה. זו לא חברה שמתחרה בשוק, זו </a:t>
            </a:r>
            <a:r>
              <a:rPr sz="1550" b="1" i="0" lang="he-IL">
                <a:solidFill>
                  <a:srgbClr val="E11B22"/>
                </a:solidFill>
                <a:latin typeface="Arial"/>
              </a:rPr>
              <a:t>החברה שהיא השוק.</a:t>
            </a:r>
          </a:p>
        </p:txBody>
      </p:sp>
      <p:sp>
        <p:nvSpPr>
          <p:cNvPr id="15" name="Oval 14"/>
          <p:cNvSpPr/>
          <p:nvPr/>
        </p:nvSpPr>
        <p:spPr>
          <a:xfrm>
            <a:off x="502920" y="6144768"/>
            <a:ext cx="109728" cy="109728"/>
          </a:xfrm>
          <a:prstGeom prst="ellipse">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הערכה (חברה / עיתונות)</a:t>
            </a:r>
          </a:p>
        </p:txBody>
      </p:sp>
      <p:sp>
        <p:nvSpPr>
          <p:cNvPr id="17" name="TextBox 16"/>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18" name="TextBox 17"/>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החפיר: למה אי אפשר לתקוף את הליבה</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כל ניסיון של מתחרה לתקוף את שוק הקולה נכשל</a:t>
            </a:r>
          </a:p>
        </p:txBody>
      </p:sp>
      <p:graphicFrame>
        <p:nvGraphicFramePr>
          <p:cNvPr id="4" name="Chart 3"/>
          <p:cNvGraphicFramePr>
            <a:graphicFrameLocks noGrp="1"/>
          </p:cNvGraphicFramePr>
          <p:nvPr/>
        </p:nvGraphicFramePr>
        <p:xfrm>
          <a:off x="4754880" y="2057400"/>
          <a:ext cx="6675120" cy="3657600"/>
        </p:xfrm>
        <a:graphic>
          <a:graphicData uri="http://schemas.openxmlformats.org/drawingml/2006/chart">
            <c:chart xmlns:c="http://schemas.openxmlformats.org/drawingml/2006/chart" r:id="rId2"/>
          </a:graphicData>
        </a:graphic>
      </p:graphicFrame>
      <p:sp>
        <p:nvSpPr>
          <p:cNvPr id="5" name="Rounded Rectangle 4"/>
          <p:cNvSpPr/>
          <p:nvPr/>
        </p:nvSpPr>
        <p:spPr>
          <a:xfrm>
            <a:off x="1161288" y="2057400"/>
            <a:ext cx="3337560" cy="3657600"/>
          </a:xfrm>
          <a:prstGeom prst="roundRect">
            <a:avLst>
              <a:gd name="adj" fmla="val 6000"/>
            </a:avLst>
          </a:prstGeom>
          <a:solidFill>
            <a:srgbClr val="FAFAFA"/>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44168" y="2286000"/>
            <a:ext cx="3017520" cy="3291840"/>
          </a:xfrm>
          <a:prstGeom prst="rect">
            <a:avLst/>
          </a:prstGeom>
          <a:noFill/>
        </p:spPr>
        <p:txBody>
          <a:bodyPr wrap="square" anchor="t" lIns="0" rIns="0" tIns="0" bIns="0">
            <a:spAutoFit/>
          </a:bodyPr>
          <a:lstStyle/>
          <a:p>
            <a:pPr algn="r" rtl="1"/>
            <a:r>
              <a:rPr sz="1800" b="1" i="0" lang="he-IL">
                <a:solidFill>
                  <a:srgbClr val="E11B22"/>
                </a:solidFill>
                <a:latin typeface="Arial"/>
              </a:rPr>
              <a:t>RC Cola</a:t>
            </a:r>
          </a:p>
          <a:p>
            <a:pPr algn="r" rtl="1">
              <a:spcAft>
                <a:spcPts val="1000"/>
              </a:spcAft>
            </a:pPr>
            <a:r>
              <a:rPr sz="1300" b="0" i="0" lang="he-IL">
                <a:solidFill>
                  <a:srgbClr val="6B6B6B"/>
                </a:solidFill>
                <a:latin typeface="Arial"/>
              </a:rPr>
              <a:t>של יפאורה, תקועה על כ-3% משוק הקולה.</a:t>
            </a:r>
          </a:p>
          <a:p>
            <a:pPr algn="r" rtl="1"/>
            <a:r>
              <a:rPr sz="1800" b="1" i="0" lang="he-IL">
                <a:solidFill>
                  <a:srgbClr val="E11B22"/>
                </a:solidFill>
                <a:latin typeface="Arial"/>
              </a:rPr>
              <a:t>"שוופס 22"</a:t>
            </a:r>
          </a:p>
          <a:p>
            <a:pPr algn="r" rtl="1">
              <a:spcAft>
                <a:spcPts val="1000"/>
              </a:spcAft>
            </a:pPr>
            <a:r>
              <a:rPr sz="1300" b="0" i="0" lang="he-IL">
                <a:solidFill>
                  <a:srgbClr val="6B6B6B"/>
                </a:solidFill>
                <a:latin typeface="Arial"/>
              </a:rPr>
              <a:t>הגיעה לשיא של 1.8%, צנחה ל-0.1%, והורדה מהמדף תוך שנה.</a:t>
            </a:r>
          </a:p>
          <a:p>
            <a:pPr algn="r" rtl="1"/>
            <a:r>
              <a:rPr sz="1400" b="1" i="0" lang="he-IL">
                <a:solidFill>
                  <a:srgbClr val="1A1A1A"/>
                </a:solidFill>
                <a:latin typeface="Arial"/>
              </a:rPr>
              <a:t>בקטגוריה הזו אין באמת תחרות.</a:t>
            </a:r>
          </a:p>
        </p:txBody>
      </p:sp>
      <p:sp>
        <p:nvSpPr>
          <p:cNvPr id="7" name="Oval 6"/>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ציבורית מאומתת</a:t>
            </a:r>
          </a:p>
        </p:txBody>
      </p:sp>
      <p:sp>
        <p:nvSpPr>
          <p:cNvPr id="9" name="TextBox 8"/>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10" name="TextBox 9"/>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מחיר השליטה: מה הם עשו</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רשות התחרות קבעה שהחברה ניצלה את מעמדה המונופוליסטי לרעה</a:t>
            </a:r>
          </a:p>
        </p:txBody>
      </p:sp>
      <p:sp>
        <p:nvSpPr>
          <p:cNvPr id="4" name="Rounded Rectangle 3"/>
          <p:cNvSpPr/>
          <p:nvPr/>
        </p:nvSpPr>
        <p:spPr>
          <a:xfrm>
            <a:off x="6464808" y="2148840"/>
            <a:ext cx="4983480" cy="1627632"/>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ridge_red.png"/>
          <p:cNvPicPr>
            <a:picLocks noChangeAspect="1"/>
          </p:cNvPicPr>
          <p:nvPr/>
        </p:nvPicPr>
        <p:blipFill>
          <a:blip r:embed="rId2"/>
          <a:stretch>
            <a:fillRect/>
          </a:stretch>
        </p:blipFill>
        <p:spPr>
          <a:xfrm>
            <a:off x="6739128" y="2642616"/>
            <a:ext cx="640080" cy="640080"/>
          </a:xfrm>
          <a:prstGeom prst="rect">
            <a:avLst/>
          </a:prstGeom>
        </p:spPr>
      </p:pic>
      <p:sp>
        <p:nvSpPr>
          <p:cNvPr id="6" name="TextBox 5"/>
          <p:cNvSpPr txBox="1"/>
          <p:nvPr/>
        </p:nvSpPr>
        <p:spPr>
          <a:xfrm>
            <a:off x="7562088" y="2423160"/>
            <a:ext cx="3703320" cy="502920"/>
          </a:xfrm>
          <a:prstGeom prst="rect">
            <a:avLst/>
          </a:prstGeom>
          <a:noFill/>
        </p:spPr>
        <p:txBody>
          <a:bodyPr wrap="square" anchor="ctr" lIns="0" rIns="0" tIns="0" bIns="0">
            <a:spAutoFit/>
          </a:bodyPr>
          <a:lstStyle/>
          <a:p>
            <a:pPr algn="r" rtl="1"/>
            <a:r>
              <a:rPr sz="1650" b="1" i="0" lang="he-IL">
                <a:solidFill>
                  <a:srgbClr val="1A1A1A"/>
                </a:solidFill>
                <a:latin typeface="Arial"/>
              </a:rPr>
              <a:t>המקרר ככלי לחץ</a:t>
            </a:r>
          </a:p>
        </p:txBody>
      </p:sp>
      <p:sp>
        <p:nvSpPr>
          <p:cNvPr id="7" name="TextBox 6"/>
          <p:cNvSpPr txBox="1"/>
          <p:nvPr/>
        </p:nvSpPr>
        <p:spPr>
          <a:xfrm>
            <a:off x="7562088" y="2971800"/>
            <a:ext cx="3703320" cy="640080"/>
          </a:xfrm>
          <a:prstGeom prst="rect">
            <a:avLst/>
          </a:prstGeom>
          <a:noFill/>
        </p:spPr>
        <p:txBody>
          <a:bodyPr wrap="square" anchor="t" lIns="0" rIns="0" tIns="0" bIns="0">
            <a:spAutoFit/>
          </a:bodyPr>
          <a:lstStyle/>
          <a:p>
            <a:pPr algn="r" rtl="1"/>
            <a:r>
              <a:rPr sz="1300" b="0" i="0" lang="he-IL">
                <a:solidFill>
                  <a:srgbClr val="6B6B6B"/>
                </a:solidFill>
                <a:latin typeface="Arial"/>
              </a:rPr>
              <a:t>מתן מקרר ממותג, או איום בהוצאתו מנקודת המכירה</a:t>
            </a:r>
          </a:p>
        </p:txBody>
      </p:sp>
      <p:sp>
        <p:nvSpPr>
          <p:cNvPr id="8" name="Rounded Rectangle 7"/>
          <p:cNvSpPr/>
          <p:nvPr/>
        </p:nvSpPr>
        <p:spPr>
          <a:xfrm>
            <a:off x="1161288" y="2148840"/>
            <a:ext cx="4983480" cy="1627632"/>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gs_red.png"/>
          <p:cNvPicPr>
            <a:picLocks noChangeAspect="1"/>
          </p:cNvPicPr>
          <p:nvPr/>
        </p:nvPicPr>
        <p:blipFill>
          <a:blip r:embed="rId3"/>
          <a:stretch>
            <a:fillRect/>
          </a:stretch>
        </p:blipFill>
        <p:spPr>
          <a:xfrm>
            <a:off x="1435608" y="2642616"/>
            <a:ext cx="640080" cy="640080"/>
          </a:xfrm>
          <a:prstGeom prst="rect">
            <a:avLst/>
          </a:prstGeom>
        </p:spPr>
      </p:pic>
      <p:sp>
        <p:nvSpPr>
          <p:cNvPr id="10" name="TextBox 9"/>
          <p:cNvSpPr txBox="1"/>
          <p:nvPr/>
        </p:nvSpPr>
        <p:spPr>
          <a:xfrm>
            <a:off x="2258568" y="2423160"/>
            <a:ext cx="3703320" cy="502920"/>
          </a:xfrm>
          <a:prstGeom prst="rect">
            <a:avLst/>
          </a:prstGeom>
          <a:noFill/>
        </p:spPr>
        <p:txBody>
          <a:bodyPr wrap="square" anchor="ctr" lIns="0" rIns="0" tIns="0" bIns="0">
            <a:spAutoFit/>
          </a:bodyPr>
          <a:lstStyle/>
          <a:p>
            <a:pPr algn="r" rtl="1"/>
            <a:r>
              <a:rPr sz="1650" b="1" i="0" lang="he-IL">
                <a:solidFill>
                  <a:srgbClr val="1A1A1A"/>
                </a:solidFill>
                <a:latin typeface="Arial"/>
              </a:rPr>
              <a:t>קשירת הנחות</a:t>
            </a:r>
          </a:p>
        </p:txBody>
      </p:sp>
      <p:sp>
        <p:nvSpPr>
          <p:cNvPr id="11" name="TextBox 10"/>
          <p:cNvSpPr txBox="1"/>
          <p:nvPr/>
        </p:nvSpPr>
        <p:spPr>
          <a:xfrm>
            <a:off x="2258568" y="2971800"/>
            <a:ext cx="3703320" cy="640080"/>
          </a:xfrm>
          <a:prstGeom prst="rect">
            <a:avLst/>
          </a:prstGeom>
          <a:noFill/>
        </p:spPr>
        <p:txBody>
          <a:bodyPr wrap="square" anchor="t" lIns="0" rIns="0" tIns="0" bIns="0">
            <a:spAutoFit/>
          </a:bodyPr>
          <a:lstStyle/>
          <a:p>
            <a:pPr algn="r" rtl="1"/>
            <a:r>
              <a:rPr sz="1300" b="0" i="0" lang="he-IL">
                <a:solidFill>
                  <a:srgbClr val="6B6B6B"/>
                </a:solidFill>
                <a:latin typeface="Arial"/>
              </a:rPr>
              <a:t>הנחה גדולה יותר על Coca-Cola למי שרכש גם נביעות</a:t>
            </a:r>
          </a:p>
        </p:txBody>
      </p:sp>
      <p:sp>
        <p:nvSpPr>
          <p:cNvPr id="12" name="Rounded Rectangle 11"/>
          <p:cNvSpPr/>
          <p:nvPr/>
        </p:nvSpPr>
        <p:spPr>
          <a:xfrm>
            <a:off x="6464808" y="4005072"/>
            <a:ext cx="4983480" cy="1627632"/>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andshake_red.png"/>
          <p:cNvPicPr>
            <a:picLocks noChangeAspect="1"/>
          </p:cNvPicPr>
          <p:nvPr/>
        </p:nvPicPr>
        <p:blipFill>
          <a:blip r:embed="rId4"/>
          <a:stretch>
            <a:fillRect/>
          </a:stretch>
        </p:blipFill>
        <p:spPr>
          <a:xfrm>
            <a:off x="6739128" y="4498848"/>
            <a:ext cx="640080" cy="640080"/>
          </a:xfrm>
          <a:prstGeom prst="rect">
            <a:avLst/>
          </a:prstGeom>
        </p:spPr>
      </p:pic>
      <p:sp>
        <p:nvSpPr>
          <p:cNvPr id="14" name="TextBox 13"/>
          <p:cNvSpPr txBox="1"/>
          <p:nvPr/>
        </p:nvSpPr>
        <p:spPr>
          <a:xfrm>
            <a:off x="7562088" y="4279392"/>
            <a:ext cx="3703320" cy="502920"/>
          </a:xfrm>
          <a:prstGeom prst="rect">
            <a:avLst/>
          </a:prstGeom>
          <a:noFill/>
        </p:spPr>
        <p:txBody>
          <a:bodyPr wrap="square" anchor="ctr" lIns="0" rIns="0" tIns="0" bIns="0">
            <a:spAutoFit/>
          </a:bodyPr>
          <a:lstStyle/>
          <a:p>
            <a:pPr algn="r" rtl="1"/>
            <a:r>
              <a:rPr sz="1650" b="1" i="0" lang="he-IL">
                <a:solidFill>
                  <a:srgbClr val="1A1A1A"/>
                </a:solidFill>
                <a:latin typeface="Arial"/>
              </a:rPr>
              <a:t>הסכמי בלעדיות</a:t>
            </a:r>
          </a:p>
        </p:txBody>
      </p:sp>
      <p:sp>
        <p:nvSpPr>
          <p:cNvPr id="15" name="TextBox 14"/>
          <p:cNvSpPr txBox="1"/>
          <p:nvPr/>
        </p:nvSpPr>
        <p:spPr>
          <a:xfrm>
            <a:off x="7562088" y="4828032"/>
            <a:ext cx="3703320" cy="640080"/>
          </a:xfrm>
          <a:prstGeom prst="rect">
            <a:avLst/>
          </a:prstGeom>
          <a:noFill/>
        </p:spPr>
        <p:txBody>
          <a:bodyPr wrap="square" anchor="t" lIns="0" rIns="0" tIns="0" bIns="0">
            <a:spAutoFit/>
          </a:bodyPr>
          <a:lstStyle/>
          <a:p>
            <a:pPr algn="r" rtl="1"/>
            <a:r>
              <a:rPr sz="1300" b="0" i="0" lang="he-IL">
                <a:solidFill>
                  <a:srgbClr val="6B6B6B"/>
                </a:solidFill>
                <a:latin typeface="Arial"/>
              </a:rPr>
              <a:t>הטבות בתמורה לרכישה בלעדית של משקאות מהחברה</a:t>
            </a:r>
          </a:p>
        </p:txBody>
      </p:sp>
      <p:sp>
        <p:nvSpPr>
          <p:cNvPr id="16" name="Rounded Rectangle 15"/>
          <p:cNvSpPr/>
          <p:nvPr/>
        </p:nvSpPr>
        <p:spPr>
          <a:xfrm>
            <a:off x="1161288" y="4005072"/>
            <a:ext cx="4983480" cy="1627632"/>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an_red.png"/>
          <p:cNvPicPr>
            <a:picLocks noChangeAspect="1"/>
          </p:cNvPicPr>
          <p:nvPr/>
        </p:nvPicPr>
        <p:blipFill>
          <a:blip r:embed="rId5"/>
          <a:stretch>
            <a:fillRect/>
          </a:stretch>
        </p:blipFill>
        <p:spPr>
          <a:xfrm>
            <a:off x="1435608" y="4498848"/>
            <a:ext cx="640080" cy="640080"/>
          </a:xfrm>
          <a:prstGeom prst="rect">
            <a:avLst/>
          </a:prstGeom>
        </p:spPr>
      </p:pic>
      <p:sp>
        <p:nvSpPr>
          <p:cNvPr id="18" name="TextBox 17"/>
          <p:cNvSpPr txBox="1"/>
          <p:nvPr/>
        </p:nvSpPr>
        <p:spPr>
          <a:xfrm>
            <a:off x="2258568" y="4279392"/>
            <a:ext cx="3703320" cy="502920"/>
          </a:xfrm>
          <a:prstGeom prst="rect">
            <a:avLst/>
          </a:prstGeom>
          <a:noFill/>
        </p:spPr>
        <p:txBody>
          <a:bodyPr wrap="square" anchor="ctr" lIns="0" rIns="0" tIns="0" bIns="0">
            <a:spAutoFit/>
          </a:bodyPr>
          <a:lstStyle/>
          <a:p>
            <a:pPr algn="r" rtl="1"/>
            <a:r>
              <a:rPr sz="1650" b="1" i="0" lang="he-IL">
                <a:solidFill>
                  <a:srgbClr val="1A1A1A"/>
                </a:solidFill>
                <a:latin typeface="Arial"/>
              </a:rPr>
              <a:t>סירוב לספק</a:t>
            </a:r>
          </a:p>
        </p:txBody>
      </p:sp>
      <p:sp>
        <p:nvSpPr>
          <p:cNvPr id="19" name="TextBox 18"/>
          <p:cNvSpPr txBox="1"/>
          <p:nvPr/>
        </p:nvSpPr>
        <p:spPr>
          <a:xfrm>
            <a:off x="2258568" y="4828032"/>
            <a:ext cx="3703320" cy="640080"/>
          </a:xfrm>
          <a:prstGeom prst="rect">
            <a:avLst/>
          </a:prstGeom>
          <a:noFill/>
        </p:spPr>
        <p:txBody>
          <a:bodyPr wrap="square" anchor="t" lIns="0" rIns="0" tIns="0" bIns="0">
            <a:spAutoFit/>
          </a:bodyPr>
          <a:lstStyle/>
          <a:p>
            <a:pPr algn="r" rtl="1"/>
            <a:r>
              <a:rPr sz="1300" b="0" i="0" lang="he-IL">
                <a:solidFill>
                  <a:srgbClr val="6B6B6B"/>
                </a:solidFill>
                <a:latin typeface="Arial"/>
              </a:rPr>
              <a:t>סירוב בלתי-סביר לספק את המוצר במקרים מסוימים</a:t>
            </a:r>
          </a:p>
        </p:txBody>
      </p:sp>
      <p:sp>
        <p:nvSpPr>
          <p:cNvPr id="20" name="Rounded Rectangle 19"/>
          <p:cNvSpPr/>
          <p:nvPr/>
        </p:nvSpPr>
        <p:spPr>
          <a:xfrm>
            <a:off x="1161288" y="5760720"/>
            <a:ext cx="9857232" cy="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5779008"/>
            <a:ext cx="9601200" cy="365760"/>
          </a:xfrm>
          <a:prstGeom prst="rect">
            <a:avLst/>
          </a:prstGeom>
          <a:noFill/>
        </p:spPr>
        <p:txBody>
          <a:bodyPr wrap="square" anchor="t" lIns="0" rIns="0" tIns="0" bIns="0">
            <a:spAutoFit/>
          </a:bodyPr>
          <a:lstStyle/>
          <a:p>
            <a:pPr algn="ctr" rtl="1"/>
            <a:r>
              <a:rPr sz="1350" b="1" i="0" lang="he-IL">
                <a:solidFill>
                  <a:srgbClr val="E11B22"/>
                </a:solidFill>
                <a:latin typeface="Arial"/>
              </a:rPr>
              <a:t>המקרר החינמי שפתחנו בו הוא בדיוק הכלי שהרגולטור סימן כניצול לרעה של מעמד.</a:t>
            </a:r>
          </a:p>
        </p:txBody>
      </p:sp>
      <p:sp>
        <p:nvSpPr>
          <p:cNvPr id="22" name="Oval 21"/>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ציבורית מאומתת</a:t>
            </a:r>
          </a:p>
        </p:txBody>
      </p:sp>
      <p:sp>
        <p:nvSpPr>
          <p:cNvPr id="24" name="TextBox 23"/>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25" name="TextBox 24"/>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התביעה הגדולה: ציר זמן</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הקנס הגבוה שהוטל אי פעם בישראל על פגיעה בתחרות</a:t>
            </a:r>
          </a:p>
        </p:txBody>
      </p:sp>
      <p:sp>
        <p:nvSpPr>
          <p:cNvPr id="4" name="Rounded Rectangle 3"/>
          <p:cNvSpPr/>
          <p:nvPr/>
        </p:nvSpPr>
        <p:spPr>
          <a:xfrm>
            <a:off x="8110727" y="2194560"/>
            <a:ext cx="3200400" cy="2651760"/>
          </a:xfrm>
          <a:prstGeom prst="roundRect">
            <a:avLst>
              <a:gd name="adj" fmla="val 6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30183" y="2359152"/>
            <a:ext cx="2761488" cy="457200"/>
          </a:xfrm>
          <a:prstGeom prst="rect">
            <a:avLst/>
          </a:prstGeom>
          <a:noFill/>
        </p:spPr>
        <p:txBody>
          <a:bodyPr wrap="square" anchor="t" lIns="0" rIns="0" tIns="0" bIns="0">
            <a:spAutoFit/>
          </a:bodyPr>
          <a:lstStyle/>
          <a:p>
            <a:pPr algn="r" rtl="0"/>
            <a:r>
              <a:rPr sz="2400" b="1" i="0" lang="en-US">
                <a:solidFill>
                  <a:srgbClr val="E11B22"/>
                </a:solidFill>
                <a:latin typeface="Arial"/>
              </a:rPr>
              <a:t>2019</a:t>
            </a:r>
          </a:p>
        </p:txBody>
      </p:sp>
      <p:sp>
        <p:nvSpPr>
          <p:cNvPr id="6" name="TextBox 5"/>
          <p:cNvSpPr txBox="1"/>
          <p:nvPr/>
        </p:nvSpPr>
        <p:spPr>
          <a:xfrm>
            <a:off x="8330183" y="2798064"/>
            <a:ext cx="2761488" cy="658368"/>
          </a:xfrm>
          <a:prstGeom prst="rect">
            <a:avLst/>
          </a:prstGeom>
          <a:noFill/>
        </p:spPr>
        <p:txBody>
          <a:bodyPr wrap="square" anchor="t" lIns="0" rIns="0" tIns="0" bIns="0">
            <a:spAutoFit/>
          </a:bodyPr>
          <a:lstStyle/>
          <a:p>
            <a:pPr algn="r" rtl="0"/>
            <a:r>
              <a:rPr sz="3600" b="1" i="0" lang="en-US">
                <a:solidFill>
                  <a:srgbClr val="E11B22"/>
                </a:solidFill>
                <a:latin typeface="Arial"/>
              </a:rPr>
              <a:t>₪39M</a:t>
            </a:r>
          </a:p>
        </p:txBody>
      </p:sp>
      <p:sp>
        <p:nvSpPr>
          <p:cNvPr id="7" name="TextBox 6"/>
          <p:cNvSpPr txBox="1"/>
          <p:nvPr/>
        </p:nvSpPr>
        <p:spPr>
          <a:xfrm>
            <a:off x="8348471" y="3547872"/>
            <a:ext cx="2724912" cy="1133856"/>
          </a:xfrm>
          <a:prstGeom prst="rect">
            <a:avLst/>
          </a:prstGeom>
          <a:noFill/>
        </p:spPr>
        <p:txBody>
          <a:bodyPr wrap="square" anchor="t" lIns="0" rIns="0" tIns="0" bIns="0">
            <a:spAutoFit/>
          </a:bodyPr>
          <a:lstStyle/>
          <a:p>
            <a:pPr algn="r" rtl="1"/>
            <a:r>
              <a:rPr sz="1300" b="0" i="0" lang="he-IL">
                <a:solidFill>
                  <a:srgbClr val="6B6B6B"/>
                </a:solidFill>
                <a:latin typeface="Arial"/>
              </a:rPr>
              <a:t>הקנס שהטילה הממונה מיכל הלפרין. תחילה נשקלו כ-65 מיליון שקל. זה היה הקנס הגבוה בישראל אי פעם על פגיעה בתחרות.</a:t>
            </a:r>
          </a:p>
        </p:txBody>
      </p:sp>
      <p:sp>
        <p:nvSpPr>
          <p:cNvPr id="8" name="Rounded Rectangle 7"/>
          <p:cNvSpPr/>
          <p:nvPr/>
        </p:nvSpPr>
        <p:spPr>
          <a:xfrm>
            <a:off x="4636008" y="2194560"/>
            <a:ext cx="3200400" cy="265176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55464" y="2359152"/>
            <a:ext cx="2761488" cy="457200"/>
          </a:xfrm>
          <a:prstGeom prst="rect">
            <a:avLst/>
          </a:prstGeom>
          <a:noFill/>
        </p:spPr>
        <p:txBody>
          <a:bodyPr wrap="square" anchor="t" lIns="0" rIns="0" tIns="0" bIns="0">
            <a:spAutoFit/>
          </a:bodyPr>
          <a:lstStyle/>
          <a:p>
            <a:pPr algn="r" rtl="0"/>
            <a:r>
              <a:rPr sz="2400" b="1" i="0" lang="en-US">
                <a:solidFill>
                  <a:srgbClr val="1A1A1A"/>
                </a:solidFill>
                <a:latin typeface="Arial"/>
              </a:rPr>
              <a:t>2023</a:t>
            </a:r>
          </a:p>
        </p:txBody>
      </p:sp>
      <p:sp>
        <p:nvSpPr>
          <p:cNvPr id="10" name="TextBox 9"/>
          <p:cNvSpPr txBox="1"/>
          <p:nvPr/>
        </p:nvSpPr>
        <p:spPr>
          <a:xfrm>
            <a:off x="4855464" y="2798064"/>
            <a:ext cx="2761488" cy="658368"/>
          </a:xfrm>
          <a:prstGeom prst="rect">
            <a:avLst/>
          </a:prstGeom>
          <a:noFill/>
        </p:spPr>
        <p:txBody>
          <a:bodyPr wrap="square" anchor="t" lIns="0" rIns="0" tIns="0" bIns="0">
            <a:spAutoFit/>
          </a:bodyPr>
          <a:lstStyle/>
          <a:p>
            <a:pPr algn="r" rtl="0"/>
            <a:r>
              <a:rPr sz="3600" b="1" i="0" lang="en-US">
                <a:solidFill>
                  <a:srgbClr val="1A1A1A"/>
                </a:solidFill>
                <a:latin typeface="Arial"/>
              </a:rPr>
              <a:t>₪36M</a:t>
            </a:r>
          </a:p>
        </p:txBody>
      </p:sp>
      <p:sp>
        <p:nvSpPr>
          <p:cNvPr id="11" name="TextBox 10"/>
          <p:cNvSpPr txBox="1"/>
          <p:nvPr/>
        </p:nvSpPr>
        <p:spPr>
          <a:xfrm>
            <a:off x="4873752" y="3547872"/>
            <a:ext cx="2724912" cy="1133856"/>
          </a:xfrm>
          <a:prstGeom prst="rect">
            <a:avLst/>
          </a:prstGeom>
          <a:noFill/>
        </p:spPr>
        <p:txBody>
          <a:bodyPr wrap="square" anchor="t" lIns="0" rIns="0" tIns="0" bIns="0">
            <a:spAutoFit/>
          </a:bodyPr>
          <a:lstStyle/>
          <a:p>
            <a:pPr algn="r" rtl="1"/>
            <a:r>
              <a:rPr sz="1300" b="0" i="0" lang="he-IL">
                <a:solidFill>
                  <a:srgbClr val="4A4A4A"/>
                </a:solidFill>
                <a:latin typeface="Arial"/>
              </a:rPr>
              <a:t>בית הדין לתחרות אישר שהחברה ניצלה את מעמדה לרעה, והפחית מעט את הקנס. מרבית טענות החברה נדחו.</a:t>
            </a:r>
          </a:p>
        </p:txBody>
      </p:sp>
      <p:sp>
        <p:nvSpPr>
          <p:cNvPr id="12" name="Rounded Rectangle 11"/>
          <p:cNvSpPr/>
          <p:nvPr/>
        </p:nvSpPr>
        <p:spPr>
          <a:xfrm>
            <a:off x="1161288" y="2194560"/>
            <a:ext cx="3200400" cy="2651760"/>
          </a:xfrm>
          <a:prstGeom prst="roundRect">
            <a:avLst>
              <a:gd name="adj" fmla="val 6000"/>
            </a:avLst>
          </a:prstGeom>
          <a:solidFill>
            <a:srgbClr val="FFFFFF"/>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0744" y="2359152"/>
            <a:ext cx="2761488" cy="457200"/>
          </a:xfrm>
          <a:prstGeom prst="rect">
            <a:avLst/>
          </a:prstGeom>
          <a:noFill/>
        </p:spPr>
        <p:txBody>
          <a:bodyPr wrap="square" anchor="t" lIns="0" rIns="0" tIns="0" bIns="0">
            <a:spAutoFit/>
          </a:bodyPr>
          <a:lstStyle/>
          <a:p>
            <a:pPr algn="r" rtl="0"/>
            <a:r>
              <a:rPr sz="2400" b="1" i="0" lang="en-US">
                <a:solidFill>
                  <a:srgbClr val="E11B22"/>
                </a:solidFill>
                <a:latin typeface="Arial"/>
              </a:rPr>
              <a:t>2025</a:t>
            </a:r>
          </a:p>
        </p:txBody>
      </p:sp>
      <p:sp>
        <p:nvSpPr>
          <p:cNvPr id="14" name="TextBox 13"/>
          <p:cNvSpPr txBox="1"/>
          <p:nvPr/>
        </p:nvSpPr>
        <p:spPr>
          <a:xfrm>
            <a:off x="1399032" y="2907791"/>
            <a:ext cx="2724912" cy="1773936"/>
          </a:xfrm>
          <a:prstGeom prst="rect">
            <a:avLst/>
          </a:prstGeom>
          <a:noFill/>
        </p:spPr>
        <p:txBody>
          <a:bodyPr wrap="square" anchor="t" lIns="0" rIns="0" tIns="0" bIns="0">
            <a:spAutoFit/>
          </a:bodyPr>
          <a:lstStyle/>
          <a:p>
            <a:pPr algn="r" rtl="1"/>
            <a:r>
              <a:rPr sz="1300" b="0" i="0" lang="he-IL">
                <a:solidFill>
                  <a:srgbClr val="6B6B6B"/>
                </a:solidFill>
                <a:latin typeface="Arial"/>
              </a:rPr>
              <a:t>בבית המשפט העליון, החברה משכה את מרבית הערעור. הודאה בפועל בניצול לרעה של מעמד מונופוליסטי.</a:t>
            </a:r>
          </a:p>
        </p:txBody>
      </p:sp>
      <p:pic>
        <p:nvPicPr>
          <p:cNvPr id="15" name="Picture 14" descr="arrowL_gray.png"/>
          <p:cNvPicPr>
            <a:picLocks noChangeAspect="1"/>
          </p:cNvPicPr>
          <p:nvPr/>
        </p:nvPicPr>
        <p:blipFill>
          <a:blip r:embed="rId2"/>
          <a:stretch>
            <a:fillRect/>
          </a:stretch>
        </p:blipFill>
        <p:spPr>
          <a:xfrm>
            <a:off x="7808975" y="3319271"/>
            <a:ext cx="384048" cy="384048"/>
          </a:xfrm>
          <a:prstGeom prst="rect">
            <a:avLst/>
          </a:prstGeom>
        </p:spPr>
      </p:pic>
      <p:pic>
        <p:nvPicPr>
          <p:cNvPr id="16" name="Picture 15" descr="arrowL_gray.png"/>
          <p:cNvPicPr>
            <a:picLocks noChangeAspect="1"/>
          </p:cNvPicPr>
          <p:nvPr/>
        </p:nvPicPr>
        <p:blipFill>
          <a:blip r:embed="rId2"/>
          <a:stretch>
            <a:fillRect/>
          </a:stretch>
        </p:blipFill>
        <p:spPr>
          <a:xfrm>
            <a:off x="4334256" y="3319271"/>
            <a:ext cx="384048" cy="384048"/>
          </a:xfrm>
          <a:prstGeom prst="rect">
            <a:avLst/>
          </a:prstGeom>
        </p:spPr>
      </p:pic>
      <p:sp>
        <p:nvSpPr>
          <p:cNvPr id="17" name="Rounded Rectangle 16"/>
          <p:cNvSpPr/>
          <p:nvPr/>
        </p:nvSpPr>
        <p:spPr>
          <a:xfrm>
            <a:off x="1161288" y="4983480"/>
            <a:ext cx="9857232" cy="822960"/>
          </a:xfrm>
          <a:prstGeom prst="roundRect">
            <a:avLst>
              <a:gd name="adj" fmla="val 6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4983480"/>
            <a:ext cx="9436608" cy="822960"/>
          </a:xfrm>
          <a:prstGeom prst="rect">
            <a:avLst/>
          </a:prstGeom>
          <a:noFill/>
        </p:spPr>
        <p:txBody>
          <a:bodyPr wrap="square" anchor="ctr" lIns="0" rIns="0" tIns="0" bIns="0">
            <a:spAutoFit/>
          </a:bodyPr>
          <a:lstStyle/>
          <a:p>
            <a:pPr algn="ctr" rtl="1"/>
            <a:r>
              <a:rPr sz="1450" b="0" i="0" lang="he-IL">
                <a:solidFill>
                  <a:srgbClr val="1A1A1A"/>
                </a:solidFill>
                <a:latin typeface="Arial"/>
              </a:rPr>
              <a:t>ובמקביל: ב-2022 קבע בית המשפט העליון תקדים, שמותר לנהל תביעה ייצוגית נגד מונופול בגין </a:t>
            </a:r>
            <a:r>
              <a:rPr sz="1450" b="1" i="0" lang="he-IL">
                <a:solidFill>
                  <a:srgbClr val="E11B22"/>
                </a:solidFill>
                <a:latin typeface="Arial"/>
              </a:rPr>
              <a:t>תמחור מופרז.</a:t>
            </a:r>
          </a:p>
        </p:txBody>
      </p:sp>
      <p:sp>
        <p:nvSpPr>
          <p:cNvPr id="19" name="Oval 18"/>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ציבורית מאומתת</a:t>
            </a:r>
          </a:p>
        </p:txBody>
      </p:sp>
      <p:sp>
        <p:nvSpPr>
          <p:cNvPr id="21" name="TextBox 20"/>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22" name="TextBox 21"/>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11B22"/>
        </a:solidFill>
        <a:effectLst/>
      </p:bgPr>
    </p:bg>
    <p:spTree>
      <p:nvGrpSpPr>
        <p:cNvPr id="1" name=""/>
        <p:cNvGrpSpPr/>
        <p:nvPr/>
      </p:nvGrpSpPr>
      <p:grpSpPr/>
      <p:sp>
        <p:nvSpPr>
          <p:cNvPr id="2" name="Oval 1"/>
          <p:cNvSpPr/>
          <p:nvPr/>
        </p:nvSpPr>
        <p:spPr>
          <a:xfrm>
            <a:off x="-2011680" y="4572000"/>
            <a:ext cx="16184880" cy="5852160"/>
          </a:xfrm>
          <a:prstGeom prst="ellipse">
            <a:avLst/>
          </a:prstGeom>
          <a:solidFill>
            <a:srgbClr val="E84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914400"/>
          </a:xfrm>
          <a:prstGeom prst="rect">
            <a:avLst/>
          </a:prstGeom>
          <a:noFill/>
        </p:spPr>
        <p:txBody>
          <a:bodyPr wrap="square" anchor="t" lIns="0" rIns="0" tIns="0" bIns="0">
            <a:spAutoFit/>
          </a:bodyPr>
          <a:lstStyle/>
          <a:p>
            <a:pPr algn="r" rtl="0"/>
            <a:r>
              <a:rPr sz="3000" b="1" i="0" lang="en-US">
                <a:solidFill>
                  <a:srgbClr val="F6BCBE"/>
                </a:solidFill>
                <a:latin typeface="Arial"/>
              </a:rPr>
              <a:t>02</a:t>
            </a:r>
          </a:p>
        </p:txBody>
      </p:sp>
      <p:sp>
        <p:nvSpPr>
          <p:cNvPr id="4" name="TextBox 3"/>
          <p:cNvSpPr txBox="1"/>
          <p:nvPr/>
        </p:nvSpPr>
        <p:spPr>
          <a:xfrm>
            <a:off x="822960" y="2514600"/>
            <a:ext cx="10515600" cy="1280160"/>
          </a:xfrm>
          <a:prstGeom prst="rect">
            <a:avLst/>
          </a:prstGeom>
          <a:noFill/>
        </p:spPr>
        <p:txBody>
          <a:bodyPr wrap="square" anchor="t" lIns="0" rIns="0" tIns="0" bIns="0">
            <a:spAutoFit/>
          </a:bodyPr>
          <a:lstStyle/>
          <a:p>
            <a:pPr algn="r" rtl="1"/>
            <a:r>
              <a:rPr sz="5400" b="1" i="0" lang="he-IL">
                <a:solidFill>
                  <a:srgbClr val="FFFFFF"/>
                </a:solidFill>
                <a:latin typeface="Arial"/>
              </a:rPr>
              <a:t>האסטרטגיה והתפעול</a:t>
            </a:r>
          </a:p>
        </p:txBody>
      </p:sp>
      <p:sp>
        <p:nvSpPr>
          <p:cNvPr id="5" name="TextBox 4"/>
          <p:cNvSpPr txBox="1"/>
          <p:nvPr/>
        </p:nvSpPr>
        <p:spPr>
          <a:xfrm>
            <a:off x="822960" y="3886200"/>
            <a:ext cx="10515600" cy="731520"/>
          </a:xfrm>
          <a:prstGeom prst="rect">
            <a:avLst/>
          </a:prstGeom>
          <a:noFill/>
        </p:spPr>
        <p:txBody>
          <a:bodyPr wrap="square" anchor="t" lIns="0" rIns="0" tIns="0" bIns="0">
            <a:spAutoFit/>
          </a:bodyPr>
          <a:lstStyle/>
          <a:p>
            <a:pPr algn="r" rtl="1"/>
            <a:r>
              <a:rPr sz="1800" b="0" i="0" lang="he-IL">
                <a:solidFill>
                  <a:srgbClr val="FAD9DB"/>
                </a:solidFill>
                <a:latin typeface="Arial"/>
              </a:rPr>
              <a:t>איך מוכרת חברה שכבר שולטת, ומה המערכות שמאחורי זה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האסטרטגיה: </a:t>
            </a:r>
            <a:r>
              <a:rPr sz="3800" b="1" i="0" lang="he-IL">
                <a:solidFill>
                  <a:srgbClr val="E11B22"/>
                </a:solidFill>
                <a:latin typeface="Arial"/>
              </a:rPr>
              <a:t>Total Beverage Company</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לא למכור משקה, אלא להחזיק את כל מקרר המשקאות של הלקוח</a:t>
            </a:r>
          </a:p>
        </p:txBody>
      </p:sp>
      <p:sp>
        <p:nvSpPr>
          <p:cNvPr id="4" name="Rounded Rectangle 3"/>
          <p:cNvSpPr/>
          <p:nvPr/>
        </p:nvSpPr>
        <p:spPr>
          <a:xfrm>
            <a:off x="8110727" y="2194560"/>
            <a:ext cx="3200400" cy="246888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ophy_red.png"/>
          <p:cNvPicPr>
            <a:picLocks noChangeAspect="1"/>
          </p:cNvPicPr>
          <p:nvPr/>
        </p:nvPicPr>
        <p:blipFill>
          <a:blip r:embed="rId2"/>
          <a:stretch>
            <a:fillRect/>
          </a:stretch>
        </p:blipFill>
        <p:spPr>
          <a:xfrm>
            <a:off x="9322307" y="2514600"/>
            <a:ext cx="777240" cy="777240"/>
          </a:xfrm>
          <a:prstGeom prst="rect">
            <a:avLst/>
          </a:prstGeom>
        </p:spPr>
      </p:pic>
      <p:sp>
        <p:nvSpPr>
          <p:cNvPr id="6" name="TextBox 5"/>
          <p:cNvSpPr txBox="1"/>
          <p:nvPr/>
        </p:nvSpPr>
        <p:spPr>
          <a:xfrm>
            <a:off x="8247888" y="3474720"/>
            <a:ext cx="2926080" cy="502920"/>
          </a:xfrm>
          <a:prstGeom prst="rect">
            <a:avLst/>
          </a:prstGeom>
          <a:noFill/>
        </p:spPr>
        <p:txBody>
          <a:bodyPr wrap="square" anchor="ctr" lIns="0" rIns="0" tIns="0" bIns="0">
            <a:spAutoFit/>
          </a:bodyPr>
          <a:lstStyle/>
          <a:p>
            <a:pPr algn="ctr" rtl="1"/>
            <a:r>
              <a:rPr sz="1800" b="1" i="0" lang="he-IL">
                <a:solidFill>
                  <a:srgbClr val="1A1A1A"/>
                </a:solidFill>
                <a:latin typeface="Arial"/>
              </a:rPr>
              <a:t>זיכיון בלעדי</a:t>
            </a:r>
          </a:p>
        </p:txBody>
      </p:sp>
      <p:sp>
        <p:nvSpPr>
          <p:cNvPr id="7" name="TextBox 6"/>
          <p:cNvSpPr txBox="1"/>
          <p:nvPr/>
        </p:nvSpPr>
        <p:spPr>
          <a:xfrm>
            <a:off x="8293607" y="4023360"/>
            <a:ext cx="2834640" cy="548640"/>
          </a:xfrm>
          <a:prstGeom prst="rect">
            <a:avLst/>
          </a:prstGeom>
          <a:noFill/>
        </p:spPr>
        <p:txBody>
          <a:bodyPr wrap="square" anchor="t" lIns="0" rIns="0" tIns="0" bIns="0">
            <a:spAutoFit/>
          </a:bodyPr>
          <a:lstStyle/>
          <a:p>
            <a:pPr algn="ctr" rtl="1"/>
            <a:r>
              <a:rPr sz="1300" b="0" i="0" lang="he-IL">
                <a:solidFill>
                  <a:srgbClr val="6B6B6B"/>
                </a:solidFill>
                <a:latin typeface="Arial"/>
              </a:rPr>
              <a:t>מותגים מובילים שאין לאף מתחרה בישראל</a:t>
            </a:r>
          </a:p>
        </p:txBody>
      </p:sp>
      <p:sp>
        <p:nvSpPr>
          <p:cNvPr id="8" name="Rounded Rectangle 7"/>
          <p:cNvSpPr/>
          <p:nvPr/>
        </p:nvSpPr>
        <p:spPr>
          <a:xfrm>
            <a:off x="4636008" y="2194560"/>
            <a:ext cx="3200400" cy="246888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yers_red.png"/>
          <p:cNvPicPr>
            <a:picLocks noChangeAspect="1"/>
          </p:cNvPicPr>
          <p:nvPr/>
        </p:nvPicPr>
        <p:blipFill>
          <a:blip r:embed="rId3"/>
          <a:stretch>
            <a:fillRect/>
          </a:stretch>
        </p:blipFill>
        <p:spPr>
          <a:xfrm>
            <a:off x="5847588" y="2514600"/>
            <a:ext cx="777240" cy="777240"/>
          </a:xfrm>
          <a:prstGeom prst="rect">
            <a:avLst/>
          </a:prstGeom>
        </p:spPr>
      </p:pic>
      <p:sp>
        <p:nvSpPr>
          <p:cNvPr id="10" name="TextBox 9"/>
          <p:cNvSpPr txBox="1"/>
          <p:nvPr/>
        </p:nvSpPr>
        <p:spPr>
          <a:xfrm>
            <a:off x="4773168" y="3474720"/>
            <a:ext cx="2926080" cy="502920"/>
          </a:xfrm>
          <a:prstGeom prst="rect">
            <a:avLst/>
          </a:prstGeom>
          <a:noFill/>
        </p:spPr>
        <p:txBody>
          <a:bodyPr wrap="square" anchor="ctr" lIns="0" rIns="0" tIns="0" bIns="0">
            <a:spAutoFit/>
          </a:bodyPr>
          <a:lstStyle/>
          <a:p>
            <a:pPr algn="ctr" rtl="1"/>
            <a:r>
              <a:rPr sz="1800" b="1" i="0" lang="he-IL">
                <a:solidFill>
                  <a:srgbClr val="1A1A1A"/>
                </a:solidFill>
                <a:latin typeface="Arial"/>
              </a:rPr>
              <a:t>סל מלא מבית אחד</a:t>
            </a:r>
          </a:p>
        </p:txBody>
      </p:sp>
      <p:sp>
        <p:nvSpPr>
          <p:cNvPr id="11" name="TextBox 10"/>
          <p:cNvSpPr txBox="1"/>
          <p:nvPr/>
        </p:nvSpPr>
        <p:spPr>
          <a:xfrm>
            <a:off x="4818888" y="4023360"/>
            <a:ext cx="2834640" cy="548640"/>
          </a:xfrm>
          <a:prstGeom prst="rect">
            <a:avLst/>
          </a:prstGeom>
          <a:noFill/>
        </p:spPr>
        <p:txBody>
          <a:bodyPr wrap="square" anchor="t" lIns="0" rIns="0" tIns="0" bIns="0">
            <a:spAutoFit/>
          </a:bodyPr>
          <a:lstStyle/>
          <a:p>
            <a:pPr algn="ctr" rtl="1"/>
            <a:r>
              <a:rPr sz="1300" b="0" i="0" lang="he-IL">
                <a:solidFill>
                  <a:srgbClr val="6B6B6B"/>
                </a:solidFill>
                <a:latin typeface="Arial"/>
              </a:rPr>
              <a:t>קולה, מים, מיצים, חלב, בירה ויין</a:t>
            </a:r>
          </a:p>
        </p:txBody>
      </p:sp>
      <p:sp>
        <p:nvSpPr>
          <p:cNvPr id="12" name="Rounded Rectangle 11"/>
          <p:cNvSpPr/>
          <p:nvPr/>
        </p:nvSpPr>
        <p:spPr>
          <a:xfrm>
            <a:off x="1161288" y="2194560"/>
            <a:ext cx="3200400" cy="246888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ridge_red.png"/>
          <p:cNvPicPr>
            <a:picLocks noChangeAspect="1"/>
          </p:cNvPicPr>
          <p:nvPr/>
        </p:nvPicPr>
        <p:blipFill>
          <a:blip r:embed="rId4"/>
          <a:stretch>
            <a:fillRect/>
          </a:stretch>
        </p:blipFill>
        <p:spPr>
          <a:xfrm>
            <a:off x="2372868" y="2514600"/>
            <a:ext cx="777240" cy="777240"/>
          </a:xfrm>
          <a:prstGeom prst="rect">
            <a:avLst/>
          </a:prstGeom>
        </p:spPr>
      </p:pic>
      <p:sp>
        <p:nvSpPr>
          <p:cNvPr id="14" name="TextBox 13"/>
          <p:cNvSpPr txBox="1"/>
          <p:nvPr/>
        </p:nvSpPr>
        <p:spPr>
          <a:xfrm>
            <a:off x="1298448" y="3474720"/>
            <a:ext cx="2926080" cy="502920"/>
          </a:xfrm>
          <a:prstGeom prst="rect">
            <a:avLst/>
          </a:prstGeom>
          <a:noFill/>
        </p:spPr>
        <p:txBody>
          <a:bodyPr wrap="square" anchor="ctr" lIns="0" rIns="0" tIns="0" bIns="0">
            <a:spAutoFit/>
          </a:bodyPr>
          <a:lstStyle/>
          <a:p>
            <a:pPr algn="ctr" rtl="1"/>
            <a:r>
              <a:rPr sz="1800" b="1" i="0" lang="he-IL">
                <a:solidFill>
                  <a:srgbClr val="1A1A1A"/>
                </a:solidFill>
                <a:latin typeface="Arial"/>
              </a:rPr>
              <a:t>שליטה בנקודת המכירה</a:t>
            </a:r>
          </a:p>
        </p:txBody>
      </p:sp>
      <p:sp>
        <p:nvSpPr>
          <p:cNvPr id="15" name="TextBox 14"/>
          <p:cNvSpPr txBox="1"/>
          <p:nvPr/>
        </p:nvSpPr>
        <p:spPr>
          <a:xfrm>
            <a:off x="1344168" y="4023360"/>
            <a:ext cx="2834640" cy="548640"/>
          </a:xfrm>
          <a:prstGeom prst="rect">
            <a:avLst/>
          </a:prstGeom>
          <a:noFill/>
        </p:spPr>
        <p:txBody>
          <a:bodyPr wrap="square" anchor="t" lIns="0" rIns="0" tIns="0" bIns="0">
            <a:spAutoFit/>
          </a:bodyPr>
          <a:lstStyle/>
          <a:p>
            <a:pPr algn="ctr" rtl="1"/>
            <a:r>
              <a:rPr sz="1300" b="0" i="0" lang="he-IL">
                <a:solidFill>
                  <a:srgbClr val="6B6B6B"/>
                </a:solidFill>
                <a:latin typeface="Arial"/>
              </a:rPr>
              <a:t>המקרר, המדף והשילוט בעסק</a:t>
            </a:r>
          </a:p>
        </p:txBody>
      </p:sp>
      <p:sp>
        <p:nvSpPr>
          <p:cNvPr id="16" name="Rounded Rectangle 15"/>
          <p:cNvSpPr/>
          <p:nvPr/>
        </p:nvSpPr>
        <p:spPr>
          <a:xfrm>
            <a:off x="1161288" y="4937760"/>
            <a:ext cx="9857232" cy="868680"/>
          </a:xfrm>
          <a:prstGeom prst="roundRect">
            <a:avLst>
              <a:gd name="adj" fmla="val 6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4937760"/>
            <a:ext cx="9436608" cy="868680"/>
          </a:xfrm>
          <a:prstGeom prst="rect">
            <a:avLst/>
          </a:prstGeom>
          <a:noFill/>
        </p:spPr>
        <p:txBody>
          <a:bodyPr wrap="square" anchor="ctr" lIns="0" rIns="0" tIns="0" bIns="0">
            <a:spAutoFit/>
          </a:bodyPr>
          <a:lstStyle/>
          <a:p>
            <a:pPr algn="ctr" rtl="1"/>
            <a:r>
              <a:rPr sz="1550" b="0" i="0" lang="he-IL">
                <a:solidFill>
                  <a:srgbClr val="1A1A1A"/>
                </a:solidFill>
                <a:latin typeface="Arial"/>
              </a:rPr>
              <a:t>ספק אחד שממלא לבעל העסק את כל המקרר ממשאית אחת. זה מה </a:t>
            </a:r>
            <a:r>
              <a:rPr sz="1550" b="1" i="0" lang="he-IL">
                <a:solidFill>
                  <a:srgbClr val="E11B22"/>
                </a:solidFill>
                <a:latin typeface="Arial"/>
              </a:rPr>
              <a:t>שאף מתחרה ישראלי לא יכול להציע.</a:t>
            </a:r>
          </a:p>
        </p:txBody>
      </p:sp>
      <p:sp>
        <p:nvSpPr>
          <p:cNvPr id="18" name="Oval 17"/>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מאומתת + ניתוח שלנו</a:t>
            </a:r>
          </a:p>
        </p:txBody>
      </p:sp>
      <p:sp>
        <p:nvSpPr>
          <p:cNvPr id="20" name="TextBox 19"/>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21" name="TextBox 20"/>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אינטגרציה אנכית ומערך הפצה</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בקבוצה פועלת חברת מכירות והפצה ייעודית, ספק השירות המוביל בישראל</a:t>
            </a:r>
          </a:p>
        </p:txBody>
      </p:sp>
      <p:sp>
        <p:nvSpPr>
          <p:cNvPr id="4" name="Rounded Rectangle 3"/>
          <p:cNvSpPr/>
          <p:nvPr/>
        </p:nvSpPr>
        <p:spPr>
          <a:xfrm>
            <a:off x="1161288" y="2194560"/>
            <a:ext cx="3337560" cy="3520440"/>
          </a:xfrm>
          <a:prstGeom prst="roundRect">
            <a:avLst>
              <a:gd name="adj" fmla="val 6000"/>
            </a:avLst>
          </a:prstGeom>
          <a:solidFill>
            <a:srgbClr val="E11B22"/>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2423160"/>
            <a:ext cx="3063240" cy="1005840"/>
          </a:xfrm>
          <a:prstGeom prst="rect">
            <a:avLst/>
          </a:prstGeom>
          <a:noFill/>
        </p:spPr>
        <p:txBody>
          <a:bodyPr wrap="square" anchor="ctr" lIns="0" rIns="0" tIns="0" bIns="0">
            <a:spAutoFit/>
          </a:bodyPr>
          <a:lstStyle/>
          <a:p>
            <a:pPr algn="ctr" rtl="0"/>
            <a:r>
              <a:rPr sz="5800" b="1" i="0" lang="en-US">
                <a:solidFill>
                  <a:srgbClr val="FFFFFF"/>
                </a:solidFill>
                <a:latin typeface="Arial"/>
              </a:rPr>
              <a:t>6</a:t>
            </a:r>
          </a:p>
          <a:p>
            <a:pPr algn="ctr" rtl="1"/>
            <a:r>
              <a:rPr sz="1500" b="0" i="0" lang="he-IL">
                <a:solidFill>
                  <a:srgbClr val="FBD9DB"/>
                </a:solidFill>
                <a:latin typeface="Arial"/>
              </a:rPr>
              <a:t>מרחבי הפצה ארציים</a:t>
            </a:r>
          </a:p>
        </p:txBody>
      </p:sp>
      <p:sp>
        <p:nvSpPr>
          <p:cNvPr id="6" name="TextBox 5"/>
          <p:cNvSpPr txBox="1"/>
          <p:nvPr/>
        </p:nvSpPr>
        <p:spPr>
          <a:xfrm>
            <a:off x="1371600" y="3611880"/>
            <a:ext cx="2926080" cy="2011680"/>
          </a:xfrm>
          <a:prstGeom prst="rect">
            <a:avLst/>
          </a:prstGeom>
          <a:noFill/>
        </p:spPr>
        <p:txBody>
          <a:bodyPr wrap="square" anchor="t" lIns="0" rIns="0" tIns="0" bIns="0">
            <a:spAutoFit/>
          </a:bodyPr>
          <a:lstStyle/>
          <a:p>
            <a:pPr algn="ctr" rtl="1">
              <a:spcAft>
                <a:spcPts val="300"/>
              </a:spcAft>
            </a:pPr>
            <a:r>
              <a:rPr sz="1500" b="0" i="0" lang="he-IL">
                <a:solidFill>
                  <a:srgbClr val="FFFFFF"/>
                </a:solidFill>
                <a:latin typeface="Arial"/>
              </a:rPr>
              <a:t>ירושלים</a:t>
            </a:r>
          </a:p>
          <a:p>
            <a:pPr algn="ctr" rtl="1">
              <a:spcAft>
                <a:spcPts val="300"/>
              </a:spcAft>
            </a:pPr>
            <a:r>
              <a:rPr sz="1500" b="0" i="0" lang="he-IL">
                <a:solidFill>
                  <a:srgbClr val="FFFFFF"/>
                </a:solidFill>
                <a:latin typeface="Arial"/>
              </a:rPr>
              <a:t>שורק</a:t>
            </a:r>
          </a:p>
          <a:p>
            <a:pPr algn="ctr" rtl="1">
              <a:spcAft>
                <a:spcPts val="300"/>
              </a:spcAft>
            </a:pPr>
            <a:r>
              <a:rPr sz="1500" b="0" i="0" lang="he-IL">
                <a:solidFill>
                  <a:srgbClr val="FFFFFF"/>
                </a:solidFill>
                <a:latin typeface="Arial"/>
              </a:rPr>
              <a:t>חיפה</a:t>
            </a:r>
          </a:p>
          <a:p>
            <a:pPr algn="ctr" rtl="1">
              <a:spcAft>
                <a:spcPts val="300"/>
              </a:spcAft>
            </a:pPr>
            <a:r>
              <a:rPr sz="1500" b="0" i="0" lang="he-IL">
                <a:solidFill>
                  <a:srgbClr val="FFFFFF"/>
                </a:solidFill>
                <a:latin typeface="Arial"/>
              </a:rPr>
              <a:t>הוד השרון</a:t>
            </a:r>
          </a:p>
          <a:p>
            <a:pPr algn="ctr" rtl="1">
              <a:spcAft>
                <a:spcPts val="300"/>
              </a:spcAft>
            </a:pPr>
            <a:r>
              <a:rPr sz="1500" b="0" i="0" lang="he-IL">
                <a:solidFill>
                  <a:srgbClr val="FFFFFF"/>
                </a:solidFill>
                <a:latin typeface="Arial"/>
              </a:rPr>
              <a:t>באר שבע</a:t>
            </a:r>
          </a:p>
          <a:p>
            <a:pPr algn="ctr" rtl="1">
              <a:spcAft>
                <a:spcPts val="300"/>
              </a:spcAft>
            </a:pPr>
            <a:r>
              <a:rPr sz="1500" b="0" i="0" lang="he-IL">
                <a:solidFill>
                  <a:srgbClr val="FFFFFF"/>
                </a:solidFill>
                <a:latin typeface="Arial"/>
              </a:rPr>
              <a:t>אילת</a:t>
            </a:r>
          </a:p>
        </p:txBody>
      </p:sp>
      <p:sp>
        <p:nvSpPr>
          <p:cNvPr id="7" name="TextBox 6"/>
          <p:cNvSpPr txBox="1"/>
          <p:nvPr/>
        </p:nvSpPr>
        <p:spPr>
          <a:xfrm>
            <a:off x="4709160" y="2377440"/>
            <a:ext cx="6309360" cy="1828800"/>
          </a:xfrm>
          <a:prstGeom prst="rect">
            <a:avLst/>
          </a:prstGeom>
          <a:noFill/>
        </p:spPr>
        <p:txBody>
          <a:bodyPr wrap="square" anchor="t" lIns="0" rIns="0" tIns="0" bIns="0">
            <a:spAutoFit/>
          </a:bodyPr>
          <a:lstStyle/>
          <a:p>
            <a:pPr algn="r" rtl="1"/>
            <a:r>
              <a:rPr sz="1700" b="0" i="0" lang="he-IL">
                <a:solidFill>
                  <a:srgbClr val="1A1A1A"/>
                </a:solidFill>
                <a:latin typeface="Arial"/>
              </a:rPr>
              <a:t>החברה מייצרת בעצמה, מפיצה ישירות ללקוחות (Direct Store Delivery), ושולטת בנוכחות בנקודת המכירה. זו אינטגרציה אנכית מלאה, מהמפעל ועד המדף.</a:t>
            </a:r>
          </a:p>
        </p:txBody>
      </p:sp>
      <p:sp>
        <p:nvSpPr>
          <p:cNvPr id="8" name="TextBox 7"/>
          <p:cNvSpPr txBox="1"/>
          <p:nvPr/>
        </p:nvSpPr>
        <p:spPr>
          <a:xfrm>
            <a:off x="4709160" y="4297680"/>
            <a:ext cx="6309360" cy="365760"/>
          </a:xfrm>
          <a:prstGeom prst="rect">
            <a:avLst/>
          </a:prstGeom>
          <a:noFill/>
        </p:spPr>
        <p:txBody>
          <a:bodyPr wrap="square" anchor="t" lIns="0" rIns="0" tIns="0" bIns="0">
            <a:spAutoFit/>
          </a:bodyPr>
          <a:lstStyle/>
          <a:p>
            <a:pPr algn="r" rtl="1"/>
            <a:r>
              <a:rPr sz="1400" b="1" i="0" lang="he-IL">
                <a:solidFill>
                  <a:srgbClr val="6B6B6B"/>
                </a:solidFill>
                <a:latin typeface="Arial"/>
              </a:rPr>
              <a:t>מערך ההפצה משרת שלושה:</a:t>
            </a:r>
          </a:p>
        </p:txBody>
      </p:sp>
      <p:sp>
        <p:nvSpPr>
          <p:cNvPr id="9" name="Rounded Rectangle 8"/>
          <p:cNvSpPr/>
          <p:nvPr/>
        </p:nvSpPr>
        <p:spPr>
          <a:xfrm>
            <a:off x="9098280" y="4754880"/>
            <a:ext cx="2057400" cy="566928"/>
          </a:xfrm>
          <a:prstGeom prst="roundRect">
            <a:avLst>
              <a:gd name="adj" fmla="val 12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89719" y="4754880"/>
            <a:ext cx="1874519" cy="566928"/>
          </a:xfrm>
          <a:prstGeom prst="rect">
            <a:avLst/>
          </a:prstGeom>
          <a:noFill/>
        </p:spPr>
        <p:txBody>
          <a:bodyPr wrap="square" anchor="ctr" lIns="0" rIns="0" tIns="0" bIns="0">
            <a:spAutoFit/>
          </a:bodyPr>
          <a:lstStyle/>
          <a:p>
            <a:pPr algn="ctr" rtl="1"/>
            <a:r>
              <a:rPr sz="1500" b="1" i="0" lang="he-IL">
                <a:solidFill>
                  <a:srgbClr val="1A1A1A"/>
                </a:solidFill>
                <a:latin typeface="Arial"/>
              </a:rPr>
              <a:t>קמעונאים</a:t>
            </a:r>
          </a:p>
        </p:txBody>
      </p:sp>
      <p:sp>
        <p:nvSpPr>
          <p:cNvPr id="11" name="Rounded Rectangle 10"/>
          <p:cNvSpPr/>
          <p:nvPr/>
        </p:nvSpPr>
        <p:spPr>
          <a:xfrm>
            <a:off x="6903720" y="4754880"/>
            <a:ext cx="2057400" cy="566928"/>
          </a:xfrm>
          <a:prstGeom prst="roundRect">
            <a:avLst>
              <a:gd name="adj" fmla="val 12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4754880"/>
            <a:ext cx="1874519" cy="566928"/>
          </a:xfrm>
          <a:prstGeom prst="rect">
            <a:avLst/>
          </a:prstGeom>
          <a:noFill/>
        </p:spPr>
        <p:txBody>
          <a:bodyPr wrap="square" anchor="ctr" lIns="0" rIns="0" tIns="0" bIns="0">
            <a:spAutoFit/>
          </a:bodyPr>
          <a:lstStyle/>
          <a:p>
            <a:pPr algn="ctr" rtl="1"/>
            <a:r>
              <a:rPr sz="1500" b="1" i="0" lang="he-IL">
                <a:solidFill>
                  <a:srgbClr val="1A1A1A"/>
                </a:solidFill>
                <a:latin typeface="Arial"/>
              </a:rPr>
              <a:t>קונים</a:t>
            </a:r>
          </a:p>
        </p:txBody>
      </p:sp>
      <p:sp>
        <p:nvSpPr>
          <p:cNvPr id="13" name="Rounded Rectangle 12"/>
          <p:cNvSpPr/>
          <p:nvPr/>
        </p:nvSpPr>
        <p:spPr>
          <a:xfrm>
            <a:off x="4709160" y="4754880"/>
            <a:ext cx="2057400" cy="566928"/>
          </a:xfrm>
          <a:prstGeom prst="roundRect">
            <a:avLst>
              <a:gd name="adj" fmla="val 12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4754880"/>
            <a:ext cx="1874519" cy="566928"/>
          </a:xfrm>
          <a:prstGeom prst="rect">
            <a:avLst/>
          </a:prstGeom>
          <a:noFill/>
        </p:spPr>
        <p:txBody>
          <a:bodyPr wrap="square" anchor="ctr" lIns="0" rIns="0" tIns="0" bIns="0">
            <a:spAutoFit/>
          </a:bodyPr>
          <a:lstStyle/>
          <a:p>
            <a:pPr algn="ctr" rtl="1"/>
            <a:r>
              <a:rPr sz="1500" b="1" i="0" lang="he-IL">
                <a:solidFill>
                  <a:srgbClr val="1A1A1A"/>
                </a:solidFill>
                <a:latin typeface="Arial"/>
              </a:rPr>
              <a:t>מותגים</a:t>
            </a:r>
          </a:p>
        </p:txBody>
      </p:sp>
      <p:sp>
        <p:nvSpPr>
          <p:cNvPr id="15" name="Oval 14"/>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ציבורית מאומתת</a:t>
            </a:r>
          </a:p>
        </p:txBody>
      </p:sp>
      <p:sp>
        <p:nvSpPr>
          <p:cNvPr id="17" name="TextBox 16"/>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18" name="TextBox 17"/>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המערכות בפועל</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כך החברה מנהלת לקוחות, ספקים ושטח, ואיך זה מוכר על מצוינות</a:t>
            </a:r>
          </a:p>
        </p:txBody>
      </p:sp>
      <p:sp>
        <p:nvSpPr>
          <p:cNvPr id="4" name="Rounded Rectangle 3"/>
          <p:cNvSpPr/>
          <p:nvPr/>
        </p:nvSpPr>
        <p:spPr>
          <a:xfrm>
            <a:off x="6464808" y="2148840"/>
            <a:ext cx="4983480" cy="141732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ments_red.png"/>
          <p:cNvPicPr>
            <a:picLocks noChangeAspect="1"/>
          </p:cNvPicPr>
          <p:nvPr/>
        </p:nvPicPr>
        <p:blipFill>
          <a:blip r:embed="rId2"/>
          <a:stretch>
            <a:fillRect/>
          </a:stretch>
        </p:blipFill>
        <p:spPr>
          <a:xfrm>
            <a:off x="6739128" y="2560320"/>
            <a:ext cx="594360" cy="594360"/>
          </a:xfrm>
          <a:prstGeom prst="rect">
            <a:avLst/>
          </a:prstGeom>
        </p:spPr>
      </p:pic>
      <p:sp>
        <p:nvSpPr>
          <p:cNvPr id="6" name="TextBox 5"/>
          <p:cNvSpPr txBox="1"/>
          <p:nvPr/>
        </p:nvSpPr>
        <p:spPr>
          <a:xfrm>
            <a:off x="7516368" y="2404872"/>
            <a:ext cx="3749039" cy="457200"/>
          </a:xfrm>
          <a:prstGeom prst="rect">
            <a:avLst/>
          </a:prstGeom>
          <a:noFill/>
        </p:spPr>
        <p:txBody>
          <a:bodyPr wrap="square" anchor="ctr" lIns="0" rIns="0" tIns="0" bIns="0">
            <a:spAutoFit/>
          </a:bodyPr>
          <a:lstStyle/>
          <a:p>
            <a:pPr algn="r" rtl="1"/>
            <a:r>
              <a:rPr sz="1600" b="1" i="0" lang="he-IL">
                <a:solidFill>
                  <a:srgbClr val="1A1A1A"/>
                </a:solidFill>
                <a:latin typeface="Arial"/>
              </a:rPr>
              <a:t>מוקד שירות רב-ערוצי</a:t>
            </a:r>
          </a:p>
        </p:txBody>
      </p:sp>
      <p:sp>
        <p:nvSpPr>
          <p:cNvPr id="7" name="TextBox 6"/>
          <p:cNvSpPr txBox="1"/>
          <p:nvPr/>
        </p:nvSpPr>
        <p:spPr>
          <a:xfrm>
            <a:off x="7516368" y="2898648"/>
            <a:ext cx="3749039" cy="502920"/>
          </a:xfrm>
          <a:prstGeom prst="rect">
            <a:avLst/>
          </a:prstGeom>
          <a:noFill/>
        </p:spPr>
        <p:txBody>
          <a:bodyPr wrap="square" anchor="t" lIns="0" rIns="0" tIns="0" bIns="0">
            <a:spAutoFit/>
          </a:bodyPr>
          <a:lstStyle/>
          <a:p>
            <a:pPr algn="r" rtl="1"/>
            <a:r>
              <a:rPr sz="1250" b="0" i="0" lang="he-IL">
                <a:solidFill>
                  <a:srgbClr val="6B6B6B"/>
                </a:solidFill>
                <a:latin typeface="Arial"/>
              </a:rPr>
              <a:t>טלפון, מייל ורשתות חברתיות</a:t>
            </a:r>
          </a:p>
        </p:txBody>
      </p:sp>
      <p:sp>
        <p:nvSpPr>
          <p:cNvPr id="8" name="Rounded Rectangle 7"/>
          <p:cNvSpPr/>
          <p:nvPr/>
        </p:nvSpPr>
        <p:spPr>
          <a:xfrm>
            <a:off x="1161288" y="2148840"/>
            <a:ext cx="4983480" cy="141732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ore_red.png"/>
          <p:cNvPicPr>
            <a:picLocks noChangeAspect="1"/>
          </p:cNvPicPr>
          <p:nvPr/>
        </p:nvPicPr>
        <p:blipFill>
          <a:blip r:embed="rId3"/>
          <a:stretch>
            <a:fillRect/>
          </a:stretch>
        </p:blipFill>
        <p:spPr>
          <a:xfrm>
            <a:off x="1435608" y="2560320"/>
            <a:ext cx="594360" cy="594360"/>
          </a:xfrm>
          <a:prstGeom prst="rect">
            <a:avLst/>
          </a:prstGeom>
        </p:spPr>
      </p:pic>
      <p:sp>
        <p:nvSpPr>
          <p:cNvPr id="10" name="TextBox 9"/>
          <p:cNvSpPr txBox="1"/>
          <p:nvPr/>
        </p:nvSpPr>
        <p:spPr>
          <a:xfrm>
            <a:off x="2212848" y="2404872"/>
            <a:ext cx="3749039" cy="457200"/>
          </a:xfrm>
          <a:prstGeom prst="rect">
            <a:avLst/>
          </a:prstGeom>
          <a:noFill/>
        </p:spPr>
        <p:txBody>
          <a:bodyPr wrap="square" anchor="ctr" lIns="0" rIns="0" tIns="0" bIns="0">
            <a:spAutoFit/>
          </a:bodyPr>
          <a:lstStyle/>
          <a:p>
            <a:pPr algn="r" rtl="1"/>
            <a:r>
              <a:rPr sz="1600" b="1" i="0" lang="he-IL">
                <a:solidFill>
                  <a:srgbClr val="1A1A1A"/>
                </a:solidFill>
                <a:latin typeface="Arial"/>
              </a:rPr>
              <a:t>אפליקציית צרכן</a:t>
            </a:r>
          </a:p>
        </p:txBody>
      </p:sp>
      <p:sp>
        <p:nvSpPr>
          <p:cNvPr id="11" name="TextBox 10"/>
          <p:cNvSpPr txBox="1"/>
          <p:nvPr/>
        </p:nvSpPr>
        <p:spPr>
          <a:xfrm>
            <a:off x="2212848" y="2898648"/>
            <a:ext cx="3749039" cy="502920"/>
          </a:xfrm>
          <a:prstGeom prst="rect">
            <a:avLst/>
          </a:prstGeom>
          <a:noFill/>
        </p:spPr>
        <p:txBody>
          <a:bodyPr wrap="square" anchor="t" lIns="0" rIns="0" tIns="0" bIns="0">
            <a:spAutoFit/>
          </a:bodyPr>
          <a:lstStyle/>
          <a:p>
            <a:pPr algn="r" rtl="1"/>
            <a:r>
              <a:rPr sz="1250" b="0" i="0" lang="he-IL">
                <a:solidFill>
                  <a:srgbClr val="6B6B6B"/>
                </a:solidFill>
                <a:latin typeface="Arial"/>
              </a:rPr>
              <a:t>מועדון נאמנות וצבירת פקקים</a:t>
            </a:r>
          </a:p>
        </p:txBody>
      </p:sp>
      <p:sp>
        <p:nvSpPr>
          <p:cNvPr id="12" name="Rounded Rectangle 11"/>
          <p:cNvSpPr/>
          <p:nvPr/>
        </p:nvSpPr>
        <p:spPr>
          <a:xfrm>
            <a:off x="6464808" y="3767328"/>
            <a:ext cx="4983480" cy="141732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ube_red.png"/>
          <p:cNvPicPr>
            <a:picLocks noChangeAspect="1"/>
          </p:cNvPicPr>
          <p:nvPr/>
        </p:nvPicPr>
        <p:blipFill>
          <a:blip r:embed="rId4"/>
          <a:stretch>
            <a:fillRect/>
          </a:stretch>
        </p:blipFill>
        <p:spPr>
          <a:xfrm>
            <a:off x="6739128" y="4178808"/>
            <a:ext cx="594360" cy="594360"/>
          </a:xfrm>
          <a:prstGeom prst="rect">
            <a:avLst/>
          </a:prstGeom>
        </p:spPr>
      </p:pic>
      <p:sp>
        <p:nvSpPr>
          <p:cNvPr id="14" name="TextBox 13"/>
          <p:cNvSpPr txBox="1"/>
          <p:nvPr/>
        </p:nvSpPr>
        <p:spPr>
          <a:xfrm>
            <a:off x="7516368" y="4023360"/>
            <a:ext cx="3749039" cy="457200"/>
          </a:xfrm>
          <a:prstGeom prst="rect">
            <a:avLst/>
          </a:prstGeom>
          <a:noFill/>
        </p:spPr>
        <p:txBody>
          <a:bodyPr wrap="square" anchor="ctr" lIns="0" rIns="0" tIns="0" bIns="0">
            <a:spAutoFit/>
          </a:bodyPr>
          <a:lstStyle/>
          <a:p>
            <a:pPr algn="r" rtl="1"/>
            <a:r>
              <a:rPr sz="1600" b="1" i="0" lang="he-IL">
                <a:solidFill>
                  <a:srgbClr val="1A1A1A"/>
                </a:solidFill>
                <a:latin typeface="Arial"/>
              </a:rPr>
              <a:t>פורטל ספקים</a:t>
            </a:r>
          </a:p>
        </p:txBody>
      </p:sp>
      <p:sp>
        <p:nvSpPr>
          <p:cNvPr id="15" name="TextBox 14"/>
          <p:cNvSpPr txBox="1"/>
          <p:nvPr/>
        </p:nvSpPr>
        <p:spPr>
          <a:xfrm>
            <a:off x="7516368" y="4517136"/>
            <a:ext cx="3749039" cy="502920"/>
          </a:xfrm>
          <a:prstGeom prst="rect">
            <a:avLst/>
          </a:prstGeom>
          <a:noFill/>
        </p:spPr>
        <p:txBody>
          <a:bodyPr wrap="square" anchor="t" lIns="0" rIns="0" tIns="0" bIns="0">
            <a:spAutoFit/>
          </a:bodyPr>
          <a:lstStyle/>
          <a:p>
            <a:pPr algn="r" rtl="1"/>
            <a:r>
              <a:rPr sz="1250" b="0" i="0" lang="he-IL">
                <a:solidFill>
                  <a:srgbClr val="6B6B6B"/>
                </a:solidFill>
                <a:latin typeface="Arial"/>
              </a:rPr>
              <a:t>ניהול שרשרת אספקה (StoreNext)</a:t>
            </a:r>
          </a:p>
        </p:txBody>
      </p:sp>
      <p:sp>
        <p:nvSpPr>
          <p:cNvPr id="16" name="Rounded Rectangle 15"/>
          <p:cNvSpPr/>
          <p:nvPr/>
        </p:nvSpPr>
        <p:spPr>
          <a:xfrm>
            <a:off x="1161288" y="3767328"/>
            <a:ext cx="4983480" cy="141732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ruck_red.png"/>
          <p:cNvPicPr>
            <a:picLocks noChangeAspect="1"/>
          </p:cNvPicPr>
          <p:nvPr/>
        </p:nvPicPr>
        <p:blipFill>
          <a:blip r:embed="rId5"/>
          <a:stretch>
            <a:fillRect/>
          </a:stretch>
        </p:blipFill>
        <p:spPr>
          <a:xfrm>
            <a:off x="1435608" y="4178808"/>
            <a:ext cx="594360" cy="594360"/>
          </a:xfrm>
          <a:prstGeom prst="rect">
            <a:avLst/>
          </a:prstGeom>
        </p:spPr>
      </p:pic>
      <p:sp>
        <p:nvSpPr>
          <p:cNvPr id="18" name="TextBox 17"/>
          <p:cNvSpPr txBox="1"/>
          <p:nvPr/>
        </p:nvSpPr>
        <p:spPr>
          <a:xfrm>
            <a:off x="2212848" y="4023360"/>
            <a:ext cx="3749039" cy="457200"/>
          </a:xfrm>
          <a:prstGeom prst="rect">
            <a:avLst/>
          </a:prstGeom>
          <a:noFill/>
        </p:spPr>
        <p:txBody>
          <a:bodyPr wrap="square" anchor="ctr" lIns="0" rIns="0" tIns="0" bIns="0">
            <a:spAutoFit/>
          </a:bodyPr>
          <a:lstStyle/>
          <a:p>
            <a:pPr algn="r" rtl="1"/>
            <a:r>
              <a:rPr sz="1600" b="1" i="0" lang="he-IL">
                <a:solidFill>
                  <a:srgbClr val="1A1A1A"/>
                </a:solidFill>
                <a:latin typeface="Arial"/>
              </a:rPr>
              <a:t>מערך שטח</a:t>
            </a:r>
          </a:p>
        </p:txBody>
      </p:sp>
      <p:sp>
        <p:nvSpPr>
          <p:cNvPr id="19" name="TextBox 18"/>
          <p:cNvSpPr txBox="1"/>
          <p:nvPr/>
        </p:nvSpPr>
        <p:spPr>
          <a:xfrm>
            <a:off x="2212848" y="4517136"/>
            <a:ext cx="3749039" cy="502920"/>
          </a:xfrm>
          <a:prstGeom prst="rect">
            <a:avLst/>
          </a:prstGeom>
          <a:noFill/>
        </p:spPr>
        <p:txBody>
          <a:bodyPr wrap="square" anchor="t" lIns="0" rIns="0" tIns="0" bIns="0">
            <a:spAutoFit/>
          </a:bodyPr>
          <a:lstStyle/>
          <a:p>
            <a:pPr algn="r" rtl="1"/>
            <a:r>
              <a:rPr sz="1250" b="0" i="0" lang="he-IL">
                <a:solidFill>
                  <a:srgbClr val="6B6B6B"/>
                </a:solidFill>
                <a:latin typeface="Arial"/>
              </a:rPr>
              <a:t>מסופונים מעל ליבת SAP</a:t>
            </a:r>
          </a:p>
        </p:txBody>
      </p:sp>
      <p:sp>
        <p:nvSpPr>
          <p:cNvPr id="20" name="Rounded Rectangle 19"/>
          <p:cNvSpPr/>
          <p:nvPr/>
        </p:nvSpPr>
        <p:spPr>
          <a:xfrm>
            <a:off x="1161288" y="5212080"/>
            <a:ext cx="9857232" cy="658368"/>
          </a:xfrm>
          <a:prstGeom prst="roundRect">
            <a:avLst>
              <a:gd name="adj" fmla="val 6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rophy_red.png"/>
          <p:cNvPicPr>
            <a:picLocks noChangeAspect="1"/>
          </p:cNvPicPr>
          <p:nvPr/>
        </p:nvPicPr>
        <p:blipFill>
          <a:blip r:embed="rId6"/>
          <a:stretch>
            <a:fillRect/>
          </a:stretch>
        </p:blipFill>
        <p:spPr>
          <a:xfrm>
            <a:off x="1417320" y="5294376"/>
            <a:ext cx="457200" cy="457200"/>
          </a:xfrm>
          <a:prstGeom prst="rect">
            <a:avLst/>
          </a:prstGeom>
        </p:spPr>
      </p:pic>
      <p:sp>
        <p:nvSpPr>
          <p:cNvPr id="22" name="TextBox 21"/>
          <p:cNvSpPr txBox="1"/>
          <p:nvPr/>
        </p:nvSpPr>
        <p:spPr>
          <a:xfrm>
            <a:off x="2011680" y="5212080"/>
            <a:ext cx="8869680" cy="658368"/>
          </a:xfrm>
          <a:prstGeom prst="rect">
            <a:avLst/>
          </a:prstGeom>
          <a:noFill/>
        </p:spPr>
        <p:txBody>
          <a:bodyPr wrap="square" anchor="ctr" lIns="0" rIns="0" tIns="0" bIns="0">
            <a:spAutoFit/>
          </a:bodyPr>
          <a:lstStyle/>
          <a:p>
            <a:pPr algn="r" rtl="1"/>
            <a:r>
              <a:rPr sz="1500" b="1" i="0" lang="he-IL">
                <a:solidFill>
                  <a:srgbClr val="1A1A1A"/>
                </a:solidFill>
                <a:latin typeface="Arial"/>
              </a:rPr>
              <a:t>זוכת הפרס הלאומי לאיכות ומצוינות במגזר העסקי, ע"ש יצחק רבין.</a:t>
            </a:r>
          </a:p>
        </p:txBody>
      </p:sp>
      <p:sp>
        <p:nvSpPr>
          <p:cNvPr id="23" name="Oval 22"/>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מאומתת + ניתוח שלנו</a:t>
            </a:r>
          </a:p>
        </p:txBody>
      </p:sp>
      <p:sp>
        <p:nvSpPr>
          <p:cNvPr id="25" name="TextBox 24"/>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26" name="TextBox 25"/>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איך הם באמת מוכרים</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ממצאים מהשטח על אופן הפעולה המסחרי של החברה</a:t>
            </a:r>
          </a:p>
        </p:txBody>
      </p:sp>
      <p:sp>
        <p:nvSpPr>
          <p:cNvPr id="4" name="Rounded Rectangle 3"/>
          <p:cNvSpPr/>
          <p:nvPr/>
        </p:nvSpPr>
        <p:spPr>
          <a:xfrm>
            <a:off x="4572000" y="2286000"/>
            <a:ext cx="6446520" cy="685800"/>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ullseye_red.png"/>
          <p:cNvPicPr>
            <a:picLocks noChangeAspect="1"/>
          </p:cNvPicPr>
          <p:nvPr/>
        </p:nvPicPr>
        <p:blipFill>
          <a:blip r:embed="rId2"/>
          <a:stretch>
            <a:fillRect/>
          </a:stretch>
        </p:blipFill>
        <p:spPr>
          <a:xfrm>
            <a:off x="10415016" y="2436876"/>
            <a:ext cx="384048" cy="384048"/>
          </a:xfrm>
          <a:prstGeom prst="rect">
            <a:avLst/>
          </a:prstGeom>
        </p:spPr>
      </p:pic>
      <p:sp>
        <p:nvSpPr>
          <p:cNvPr id="6" name="TextBox 5"/>
          <p:cNvSpPr txBox="1"/>
          <p:nvPr/>
        </p:nvSpPr>
        <p:spPr>
          <a:xfrm>
            <a:off x="4828032" y="2286000"/>
            <a:ext cx="5468112" cy="685800"/>
          </a:xfrm>
          <a:prstGeom prst="rect">
            <a:avLst/>
          </a:prstGeom>
          <a:noFill/>
        </p:spPr>
        <p:txBody>
          <a:bodyPr wrap="square" anchor="ctr" lIns="0" rIns="0" tIns="0" bIns="0">
            <a:spAutoFit/>
          </a:bodyPr>
          <a:lstStyle/>
          <a:p>
            <a:pPr algn="r" rtl="1"/>
            <a:r>
              <a:rPr sz="1650" b="1" i="0" lang="he-IL">
                <a:solidFill>
                  <a:srgbClr val="1A1A1A"/>
                </a:solidFill>
                <a:latin typeface="Arial"/>
              </a:rPr>
              <a:t>מובילת שוק לא רודפת, הלקוחות פונים אליה ביוזמתם</a:t>
            </a:r>
          </a:p>
        </p:txBody>
      </p:sp>
      <p:sp>
        <p:nvSpPr>
          <p:cNvPr id="7" name="Rounded Rectangle 6"/>
          <p:cNvSpPr/>
          <p:nvPr/>
        </p:nvSpPr>
        <p:spPr>
          <a:xfrm>
            <a:off x="4572000" y="3154680"/>
            <a:ext cx="6446520" cy="685800"/>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unnel_red.png"/>
          <p:cNvPicPr>
            <a:picLocks noChangeAspect="1"/>
          </p:cNvPicPr>
          <p:nvPr/>
        </p:nvPicPr>
        <p:blipFill>
          <a:blip r:embed="rId3"/>
          <a:stretch>
            <a:fillRect/>
          </a:stretch>
        </p:blipFill>
        <p:spPr>
          <a:xfrm>
            <a:off x="10415016" y="3305556"/>
            <a:ext cx="384048" cy="384048"/>
          </a:xfrm>
          <a:prstGeom prst="rect">
            <a:avLst/>
          </a:prstGeom>
        </p:spPr>
      </p:pic>
      <p:sp>
        <p:nvSpPr>
          <p:cNvPr id="9" name="TextBox 8"/>
          <p:cNvSpPr txBox="1"/>
          <p:nvPr/>
        </p:nvSpPr>
        <p:spPr>
          <a:xfrm>
            <a:off x="4828032" y="3154680"/>
            <a:ext cx="5468112" cy="685800"/>
          </a:xfrm>
          <a:prstGeom prst="rect">
            <a:avLst/>
          </a:prstGeom>
          <a:noFill/>
        </p:spPr>
        <p:txBody>
          <a:bodyPr wrap="square" anchor="ctr" lIns="0" rIns="0" tIns="0" bIns="0">
            <a:spAutoFit/>
          </a:bodyPr>
          <a:lstStyle/>
          <a:p>
            <a:pPr algn="r" rtl="1"/>
            <a:r>
              <a:rPr sz="1650" b="1" i="0" lang="he-IL">
                <a:solidFill>
                  <a:srgbClr val="1A1A1A"/>
                </a:solidFill>
                <a:latin typeface="Arial"/>
              </a:rPr>
              <a:t>כל הערוצים (מוקד, אתר, אפליקציה) מתנקזים לתהליך אחד</a:t>
            </a:r>
          </a:p>
        </p:txBody>
      </p:sp>
      <p:sp>
        <p:nvSpPr>
          <p:cNvPr id="10" name="Rounded Rectangle 9"/>
          <p:cNvSpPr/>
          <p:nvPr/>
        </p:nvSpPr>
        <p:spPr>
          <a:xfrm>
            <a:off x="4572000" y="4023360"/>
            <a:ext cx="6446520" cy="685800"/>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itemap_red.png"/>
          <p:cNvPicPr>
            <a:picLocks noChangeAspect="1"/>
          </p:cNvPicPr>
          <p:nvPr/>
        </p:nvPicPr>
        <p:blipFill>
          <a:blip r:embed="rId4"/>
          <a:stretch>
            <a:fillRect/>
          </a:stretch>
        </p:blipFill>
        <p:spPr>
          <a:xfrm>
            <a:off x="10415016" y="4174236"/>
            <a:ext cx="384048" cy="384048"/>
          </a:xfrm>
          <a:prstGeom prst="rect">
            <a:avLst/>
          </a:prstGeom>
        </p:spPr>
      </p:pic>
      <p:sp>
        <p:nvSpPr>
          <p:cNvPr id="12" name="TextBox 11"/>
          <p:cNvSpPr txBox="1"/>
          <p:nvPr/>
        </p:nvSpPr>
        <p:spPr>
          <a:xfrm>
            <a:off x="4828032" y="4023360"/>
            <a:ext cx="5468112" cy="685800"/>
          </a:xfrm>
          <a:prstGeom prst="rect">
            <a:avLst/>
          </a:prstGeom>
          <a:noFill/>
        </p:spPr>
        <p:txBody>
          <a:bodyPr wrap="square" anchor="ctr" lIns="0" rIns="0" tIns="0" bIns="0">
            <a:spAutoFit/>
          </a:bodyPr>
          <a:lstStyle/>
          <a:p>
            <a:pPr algn="r" rtl="1"/>
            <a:r>
              <a:rPr sz="1650" b="1" i="0" lang="he-IL">
                <a:solidFill>
                  <a:srgbClr val="1A1A1A"/>
                </a:solidFill>
                <a:latin typeface="Arial"/>
              </a:rPr>
              <a:t>בעלות הלקוח מנוהלת מרכזית, לפי אזור וסגמנט</a:t>
            </a:r>
          </a:p>
        </p:txBody>
      </p:sp>
      <p:sp>
        <p:nvSpPr>
          <p:cNvPr id="13" name="Rounded Rectangle 12"/>
          <p:cNvSpPr/>
          <p:nvPr/>
        </p:nvSpPr>
        <p:spPr>
          <a:xfrm>
            <a:off x="4572000" y="4892040"/>
            <a:ext cx="6446520" cy="685800"/>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tags_red.png"/>
          <p:cNvPicPr>
            <a:picLocks noChangeAspect="1"/>
          </p:cNvPicPr>
          <p:nvPr/>
        </p:nvPicPr>
        <p:blipFill>
          <a:blip r:embed="rId5"/>
          <a:stretch>
            <a:fillRect/>
          </a:stretch>
        </p:blipFill>
        <p:spPr>
          <a:xfrm>
            <a:off x="10415016" y="5042916"/>
            <a:ext cx="384048" cy="384048"/>
          </a:xfrm>
          <a:prstGeom prst="rect">
            <a:avLst/>
          </a:prstGeom>
        </p:spPr>
      </p:pic>
      <p:sp>
        <p:nvSpPr>
          <p:cNvPr id="15" name="TextBox 14"/>
          <p:cNvSpPr txBox="1"/>
          <p:nvPr/>
        </p:nvSpPr>
        <p:spPr>
          <a:xfrm>
            <a:off x="4828032" y="4892040"/>
            <a:ext cx="5468112" cy="685800"/>
          </a:xfrm>
          <a:prstGeom prst="rect">
            <a:avLst/>
          </a:prstGeom>
          <a:noFill/>
        </p:spPr>
        <p:txBody>
          <a:bodyPr wrap="square" anchor="ctr" lIns="0" rIns="0" tIns="0" bIns="0">
            <a:spAutoFit/>
          </a:bodyPr>
          <a:lstStyle/>
          <a:p>
            <a:pPr algn="r" rtl="1"/>
            <a:r>
              <a:rPr sz="1650" b="1" i="0" lang="he-IL">
                <a:solidFill>
                  <a:srgbClr val="1A1A1A"/>
                </a:solidFill>
                <a:latin typeface="Arial"/>
              </a:rPr>
              <a:t>תמחור דיפרנציאלי לפי ערוץ מכירה</a:t>
            </a:r>
          </a:p>
        </p:txBody>
      </p:sp>
      <p:sp>
        <p:nvSpPr>
          <p:cNvPr id="16" name="Rounded Rectangle 15"/>
          <p:cNvSpPr/>
          <p:nvPr/>
        </p:nvSpPr>
        <p:spPr>
          <a:xfrm>
            <a:off x="1161288" y="2286000"/>
            <a:ext cx="3200400" cy="3337560"/>
          </a:xfrm>
          <a:prstGeom prst="roundRect">
            <a:avLst>
              <a:gd name="adj" fmla="val 6000"/>
            </a:avLst>
          </a:prstGeom>
          <a:solidFill>
            <a:srgbClr val="E11B22"/>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gs_white.png"/>
          <p:cNvPicPr>
            <a:picLocks noChangeAspect="1"/>
          </p:cNvPicPr>
          <p:nvPr/>
        </p:nvPicPr>
        <p:blipFill>
          <a:blip r:embed="rId6"/>
          <a:stretch>
            <a:fillRect/>
          </a:stretch>
        </p:blipFill>
        <p:spPr>
          <a:xfrm>
            <a:off x="2350008" y="2606040"/>
            <a:ext cx="822960" cy="822960"/>
          </a:xfrm>
          <a:prstGeom prst="rect">
            <a:avLst/>
          </a:prstGeom>
        </p:spPr>
      </p:pic>
      <p:sp>
        <p:nvSpPr>
          <p:cNvPr id="18" name="TextBox 17"/>
          <p:cNvSpPr txBox="1"/>
          <p:nvPr/>
        </p:nvSpPr>
        <p:spPr>
          <a:xfrm>
            <a:off x="1298448" y="3566160"/>
            <a:ext cx="2926080" cy="1920240"/>
          </a:xfrm>
          <a:prstGeom prst="rect">
            <a:avLst/>
          </a:prstGeom>
          <a:noFill/>
        </p:spPr>
        <p:txBody>
          <a:bodyPr wrap="square" anchor="ctr" lIns="0" rIns="0" tIns="0" bIns="0">
            <a:spAutoFit/>
          </a:bodyPr>
          <a:lstStyle/>
          <a:p>
            <a:pPr algn="ctr" rtl="1"/>
            <a:r>
              <a:rPr sz="1800" b="1" i="0" lang="he-IL">
                <a:solidFill>
                  <a:srgbClr val="FFFFFF"/>
                </a:solidFill>
                <a:latin typeface="Arial"/>
              </a:rPr>
              <a:t>דוגמה לתמחור</a:t>
            </a:r>
          </a:p>
          <a:p>
            <a:pPr algn="ctr" rtl="1">
              <a:spcBef>
                <a:spcPts val="800"/>
              </a:spcBef>
            </a:pPr>
            <a:r>
              <a:rPr sz="1400" b="0" i="0" lang="he-IL">
                <a:solidFill>
                  <a:srgbClr val="FBD9DB"/>
                </a:solidFill>
                <a:latin typeface="Arial"/>
              </a:rPr>
              <a:t>בקבוק Coca-Cola בנפח 1.5 ליטר זול משמעותית ברשת השיווק, ויקר בהרבה בחנות נוחות.</a:t>
            </a:r>
          </a:p>
        </p:txBody>
      </p:sp>
      <p:sp>
        <p:nvSpPr>
          <p:cNvPr id="19" name="Oval 18"/>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מאומתת + ניתוח שלנו</a:t>
            </a:r>
          </a:p>
        </p:txBody>
      </p:sp>
      <p:sp>
        <p:nvSpPr>
          <p:cNvPr id="21" name="TextBox 20"/>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22" name="TextBox 21"/>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11B22"/>
        </a:solidFill>
        <a:effectLst/>
      </p:bgPr>
    </p:bg>
    <p:spTree>
      <p:nvGrpSpPr>
        <p:cNvPr id="1" name=""/>
        <p:cNvGrpSpPr/>
        <p:nvPr/>
      </p:nvGrpSpPr>
      <p:grpSpPr/>
      <p:sp>
        <p:nvSpPr>
          <p:cNvPr id="2" name="Oval 1"/>
          <p:cNvSpPr/>
          <p:nvPr/>
        </p:nvSpPr>
        <p:spPr>
          <a:xfrm>
            <a:off x="-2011680" y="4572000"/>
            <a:ext cx="16184880" cy="5852160"/>
          </a:xfrm>
          <a:prstGeom prst="ellipse">
            <a:avLst/>
          </a:prstGeom>
          <a:solidFill>
            <a:srgbClr val="E84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914400"/>
          </a:xfrm>
          <a:prstGeom prst="rect">
            <a:avLst/>
          </a:prstGeom>
          <a:noFill/>
        </p:spPr>
        <p:txBody>
          <a:bodyPr wrap="square" anchor="t" lIns="0" rIns="0" tIns="0" bIns="0">
            <a:spAutoFit/>
          </a:bodyPr>
          <a:lstStyle/>
          <a:p>
            <a:pPr algn="r" rtl="0"/>
            <a:r>
              <a:rPr sz="3000" b="1" i="0" lang="en-US">
                <a:solidFill>
                  <a:srgbClr val="F6BCBE"/>
                </a:solidFill>
                <a:latin typeface="Arial"/>
              </a:rPr>
              <a:t>03</a:t>
            </a:r>
          </a:p>
        </p:txBody>
      </p:sp>
      <p:sp>
        <p:nvSpPr>
          <p:cNvPr id="4" name="TextBox 3"/>
          <p:cNvSpPr txBox="1"/>
          <p:nvPr/>
        </p:nvSpPr>
        <p:spPr>
          <a:xfrm>
            <a:off x="822960" y="2514600"/>
            <a:ext cx="10515600" cy="1280160"/>
          </a:xfrm>
          <a:prstGeom prst="rect">
            <a:avLst/>
          </a:prstGeom>
          <a:noFill/>
        </p:spPr>
        <p:txBody>
          <a:bodyPr wrap="square" anchor="t" lIns="0" rIns="0" tIns="0" bIns="0">
            <a:spAutoFit/>
          </a:bodyPr>
          <a:lstStyle/>
          <a:p>
            <a:pPr algn="r" rtl="1"/>
            <a:r>
              <a:rPr sz="5400" b="1" i="0" lang="he-IL">
                <a:solidFill>
                  <a:srgbClr val="FFFFFF"/>
                </a:solidFill>
                <a:latin typeface="Arial"/>
              </a:rPr>
              <a:t>הבידול</a:t>
            </a:r>
          </a:p>
        </p:txBody>
      </p:sp>
      <p:sp>
        <p:nvSpPr>
          <p:cNvPr id="5" name="TextBox 4"/>
          <p:cNvSpPr txBox="1"/>
          <p:nvPr/>
        </p:nvSpPr>
        <p:spPr>
          <a:xfrm>
            <a:off x="822960" y="3886200"/>
            <a:ext cx="10515600" cy="731520"/>
          </a:xfrm>
          <a:prstGeom prst="rect">
            <a:avLst/>
          </a:prstGeom>
          <a:noFill/>
        </p:spPr>
        <p:txBody>
          <a:bodyPr wrap="square" anchor="t" lIns="0" rIns="0" tIns="0" bIns="0">
            <a:spAutoFit/>
          </a:bodyPr>
          <a:lstStyle/>
          <a:p>
            <a:pPr algn="r" rtl="1"/>
            <a:r>
              <a:rPr sz="1800" b="0" i="0" lang="he-IL">
                <a:solidFill>
                  <a:srgbClr val="FAD9DB"/>
                </a:solidFill>
                <a:latin typeface="Arial"/>
              </a:rPr>
              <a:t>חמשת העוגנים, הזירה האחת שלא מנצחים בה, והחדשנות</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חמשת עוגני הבידול</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חמישה גורמים שמתכנסים ליתרון אחד בלתי-עביר</a:t>
            </a:r>
          </a:p>
        </p:txBody>
      </p:sp>
      <p:sp>
        <p:nvSpPr>
          <p:cNvPr id="4" name="Rounded Rectangle 3"/>
          <p:cNvSpPr/>
          <p:nvPr/>
        </p:nvSpPr>
        <p:spPr>
          <a:xfrm>
            <a:off x="4892040" y="2057400"/>
            <a:ext cx="6766560" cy="566928"/>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eck_red.png"/>
          <p:cNvPicPr>
            <a:picLocks noChangeAspect="1"/>
          </p:cNvPicPr>
          <p:nvPr/>
        </p:nvPicPr>
        <p:blipFill>
          <a:blip r:embed="rId2"/>
          <a:stretch>
            <a:fillRect/>
          </a:stretch>
        </p:blipFill>
        <p:spPr>
          <a:xfrm>
            <a:off x="11055096" y="2148840"/>
            <a:ext cx="384048" cy="384048"/>
          </a:xfrm>
          <a:prstGeom prst="rect">
            <a:avLst/>
          </a:prstGeom>
        </p:spPr>
      </p:pic>
      <p:sp>
        <p:nvSpPr>
          <p:cNvPr id="6" name="TextBox 5"/>
          <p:cNvSpPr txBox="1"/>
          <p:nvPr/>
        </p:nvSpPr>
        <p:spPr>
          <a:xfrm>
            <a:off x="5148072" y="2057400"/>
            <a:ext cx="5788152" cy="566928"/>
          </a:xfrm>
          <a:prstGeom prst="rect">
            <a:avLst/>
          </a:prstGeom>
          <a:noFill/>
        </p:spPr>
        <p:txBody>
          <a:bodyPr wrap="square" anchor="ctr" lIns="0" rIns="0" tIns="0" bIns="0">
            <a:spAutoFit/>
          </a:bodyPr>
          <a:lstStyle/>
          <a:p>
            <a:pPr algn="r" rtl="1"/>
            <a:r>
              <a:rPr sz="1650" b="1" i="0" lang="he-IL">
                <a:solidFill>
                  <a:srgbClr val="1A1A1A"/>
                </a:solidFill>
                <a:latin typeface="Arial"/>
              </a:rPr>
              <a:t>עוצמת מותגים וזיכיון Coca-Cola בלעדי</a:t>
            </a:r>
          </a:p>
        </p:txBody>
      </p:sp>
      <p:sp>
        <p:nvSpPr>
          <p:cNvPr id="7" name="Rounded Rectangle 6"/>
          <p:cNvSpPr/>
          <p:nvPr/>
        </p:nvSpPr>
        <p:spPr>
          <a:xfrm>
            <a:off x="4892040" y="2770632"/>
            <a:ext cx="6766560" cy="566928"/>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red.png"/>
          <p:cNvPicPr>
            <a:picLocks noChangeAspect="1"/>
          </p:cNvPicPr>
          <p:nvPr/>
        </p:nvPicPr>
        <p:blipFill>
          <a:blip r:embed="rId2"/>
          <a:stretch>
            <a:fillRect/>
          </a:stretch>
        </p:blipFill>
        <p:spPr>
          <a:xfrm>
            <a:off x="11055096" y="2862072"/>
            <a:ext cx="384048" cy="384048"/>
          </a:xfrm>
          <a:prstGeom prst="rect">
            <a:avLst/>
          </a:prstGeom>
        </p:spPr>
      </p:pic>
      <p:sp>
        <p:nvSpPr>
          <p:cNvPr id="9" name="TextBox 8"/>
          <p:cNvSpPr txBox="1"/>
          <p:nvPr/>
        </p:nvSpPr>
        <p:spPr>
          <a:xfrm>
            <a:off x="5148072" y="2770632"/>
            <a:ext cx="5788152" cy="566928"/>
          </a:xfrm>
          <a:prstGeom prst="rect">
            <a:avLst/>
          </a:prstGeom>
          <a:noFill/>
        </p:spPr>
        <p:txBody>
          <a:bodyPr wrap="square" anchor="ctr" lIns="0" rIns="0" tIns="0" bIns="0">
            <a:spAutoFit/>
          </a:bodyPr>
          <a:lstStyle/>
          <a:p>
            <a:pPr algn="r" rtl="1"/>
            <a:r>
              <a:rPr sz="1650" b="1" i="0" lang="he-IL">
                <a:solidFill>
                  <a:srgbClr val="1A1A1A"/>
                </a:solidFill>
                <a:latin typeface="Arial"/>
              </a:rPr>
              <a:t>פתרון 360°, סל מלא מבית אחד</a:t>
            </a:r>
          </a:p>
        </p:txBody>
      </p:sp>
      <p:sp>
        <p:nvSpPr>
          <p:cNvPr id="10" name="Rounded Rectangle 9"/>
          <p:cNvSpPr/>
          <p:nvPr/>
        </p:nvSpPr>
        <p:spPr>
          <a:xfrm>
            <a:off x="4892040" y="3483864"/>
            <a:ext cx="6766560" cy="566928"/>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red.png"/>
          <p:cNvPicPr>
            <a:picLocks noChangeAspect="1"/>
          </p:cNvPicPr>
          <p:nvPr/>
        </p:nvPicPr>
        <p:blipFill>
          <a:blip r:embed="rId2"/>
          <a:stretch>
            <a:fillRect/>
          </a:stretch>
        </p:blipFill>
        <p:spPr>
          <a:xfrm>
            <a:off x="11055096" y="3575304"/>
            <a:ext cx="384048" cy="384048"/>
          </a:xfrm>
          <a:prstGeom prst="rect">
            <a:avLst/>
          </a:prstGeom>
        </p:spPr>
      </p:pic>
      <p:sp>
        <p:nvSpPr>
          <p:cNvPr id="12" name="TextBox 11"/>
          <p:cNvSpPr txBox="1"/>
          <p:nvPr/>
        </p:nvSpPr>
        <p:spPr>
          <a:xfrm>
            <a:off x="5148072" y="3483864"/>
            <a:ext cx="5788152" cy="566928"/>
          </a:xfrm>
          <a:prstGeom prst="rect">
            <a:avLst/>
          </a:prstGeom>
          <a:noFill/>
        </p:spPr>
        <p:txBody>
          <a:bodyPr wrap="square" anchor="ctr" lIns="0" rIns="0" tIns="0" bIns="0">
            <a:spAutoFit/>
          </a:bodyPr>
          <a:lstStyle/>
          <a:p>
            <a:pPr algn="r" rtl="1"/>
            <a:r>
              <a:rPr sz="1650" b="1" i="0" lang="he-IL">
                <a:solidFill>
                  <a:srgbClr val="1A1A1A"/>
                </a:solidFill>
                <a:latin typeface="Arial"/>
              </a:rPr>
              <a:t>מצוינות תפעולית ולוגיסטיקה ארצית</a:t>
            </a:r>
          </a:p>
        </p:txBody>
      </p:sp>
      <p:sp>
        <p:nvSpPr>
          <p:cNvPr id="13" name="Rounded Rectangle 12"/>
          <p:cNvSpPr/>
          <p:nvPr/>
        </p:nvSpPr>
        <p:spPr>
          <a:xfrm>
            <a:off x="4892040" y="4197096"/>
            <a:ext cx="6766560" cy="566928"/>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red.png"/>
          <p:cNvPicPr>
            <a:picLocks noChangeAspect="1"/>
          </p:cNvPicPr>
          <p:nvPr/>
        </p:nvPicPr>
        <p:blipFill>
          <a:blip r:embed="rId2"/>
          <a:stretch>
            <a:fillRect/>
          </a:stretch>
        </p:blipFill>
        <p:spPr>
          <a:xfrm>
            <a:off x="11055096" y="4288536"/>
            <a:ext cx="384048" cy="384048"/>
          </a:xfrm>
          <a:prstGeom prst="rect">
            <a:avLst/>
          </a:prstGeom>
        </p:spPr>
      </p:pic>
      <p:sp>
        <p:nvSpPr>
          <p:cNvPr id="15" name="TextBox 14"/>
          <p:cNvSpPr txBox="1"/>
          <p:nvPr/>
        </p:nvSpPr>
        <p:spPr>
          <a:xfrm>
            <a:off x="5148072" y="4197096"/>
            <a:ext cx="5788152" cy="566928"/>
          </a:xfrm>
          <a:prstGeom prst="rect">
            <a:avLst/>
          </a:prstGeom>
          <a:noFill/>
        </p:spPr>
        <p:txBody>
          <a:bodyPr wrap="square" anchor="ctr" lIns="0" rIns="0" tIns="0" bIns="0">
            <a:spAutoFit/>
          </a:bodyPr>
          <a:lstStyle/>
          <a:p>
            <a:pPr algn="r" rtl="1"/>
            <a:r>
              <a:rPr sz="1650" b="1" i="0" lang="he-IL">
                <a:solidFill>
                  <a:srgbClr val="1A1A1A"/>
                </a:solidFill>
                <a:latin typeface="Arial"/>
              </a:rPr>
              <a:t>חדשנות מוצרית (Gat Foods, נורדיק מיסט)</a:t>
            </a:r>
          </a:p>
        </p:txBody>
      </p:sp>
      <p:sp>
        <p:nvSpPr>
          <p:cNvPr id="16" name="Rounded Rectangle 15"/>
          <p:cNvSpPr/>
          <p:nvPr/>
        </p:nvSpPr>
        <p:spPr>
          <a:xfrm>
            <a:off x="4892040" y="4910328"/>
            <a:ext cx="6766560" cy="566928"/>
          </a:xfrm>
          <a:prstGeom prst="roundRect">
            <a:avLst>
              <a:gd name="adj" fmla="val 10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red.png"/>
          <p:cNvPicPr>
            <a:picLocks noChangeAspect="1"/>
          </p:cNvPicPr>
          <p:nvPr/>
        </p:nvPicPr>
        <p:blipFill>
          <a:blip r:embed="rId2"/>
          <a:stretch>
            <a:fillRect/>
          </a:stretch>
        </p:blipFill>
        <p:spPr>
          <a:xfrm>
            <a:off x="11055096" y="5001768"/>
            <a:ext cx="384048" cy="384048"/>
          </a:xfrm>
          <a:prstGeom prst="rect">
            <a:avLst/>
          </a:prstGeom>
        </p:spPr>
      </p:pic>
      <p:sp>
        <p:nvSpPr>
          <p:cNvPr id="18" name="TextBox 17"/>
          <p:cNvSpPr txBox="1"/>
          <p:nvPr/>
        </p:nvSpPr>
        <p:spPr>
          <a:xfrm>
            <a:off x="5148072" y="4910328"/>
            <a:ext cx="5788152" cy="566928"/>
          </a:xfrm>
          <a:prstGeom prst="rect">
            <a:avLst/>
          </a:prstGeom>
          <a:noFill/>
        </p:spPr>
        <p:txBody>
          <a:bodyPr wrap="square" anchor="ctr" lIns="0" rIns="0" tIns="0" bIns="0">
            <a:spAutoFit/>
          </a:bodyPr>
          <a:lstStyle/>
          <a:p>
            <a:pPr algn="r" rtl="1"/>
            <a:r>
              <a:rPr sz="1650" b="1" i="0" lang="he-IL">
                <a:solidFill>
                  <a:srgbClr val="1A1A1A"/>
                </a:solidFill>
                <a:latin typeface="Arial"/>
              </a:rPr>
              <a:t>תפיסת איכות, בטיחות ואמון צרכני</a:t>
            </a:r>
          </a:p>
        </p:txBody>
      </p:sp>
      <p:sp>
        <p:nvSpPr>
          <p:cNvPr id="19" name="Rounded Rectangle 18"/>
          <p:cNvSpPr/>
          <p:nvPr/>
        </p:nvSpPr>
        <p:spPr>
          <a:xfrm>
            <a:off x="1161288" y="2057400"/>
            <a:ext cx="3337560" cy="3419856"/>
          </a:xfrm>
          <a:prstGeom prst="roundRect">
            <a:avLst>
              <a:gd name="adj" fmla="val 6000"/>
            </a:avLst>
          </a:prstGeom>
          <a:solidFill>
            <a:srgbClr val="E11B22"/>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ruck_white.png"/>
          <p:cNvPicPr>
            <a:picLocks noChangeAspect="1"/>
          </p:cNvPicPr>
          <p:nvPr/>
        </p:nvPicPr>
        <p:blipFill>
          <a:blip r:embed="rId3"/>
          <a:stretch>
            <a:fillRect/>
          </a:stretch>
        </p:blipFill>
        <p:spPr>
          <a:xfrm>
            <a:off x="2395728" y="2423160"/>
            <a:ext cx="868680" cy="868680"/>
          </a:xfrm>
          <a:prstGeom prst="rect">
            <a:avLst/>
          </a:prstGeom>
        </p:spPr>
      </p:pic>
      <p:sp>
        <p:nvSpPr>
          <p:cNvPr id="21" name="TextBox 20"/>
          <p:cNvSpPr txBox="1"/>
          <p:nvPr/>
        </p:nvSpPr>
        <p:spPr>
          <a:xfrm>
            <a:off x="1325880" y="3520440"/>
            <a:ext cx="3017520" cy="1828800"/>
          </a:xfrm>
          <a:prstGeom prst="rect">
            <a:avLst/>
          </a:prstGeom>
          <a:noFill/>
        </p:spPr>
        <p:txBody>
          <a:bodyPr wrap="square" anchor="ctr" lIns="0" rIns="0" tIns="0" bIns="0">
            <a:spAutoFit/>
          </a:bodyPr>
          <a:lstStyle/>
          <a:p>
            <a:pPr algn="ctr" rtl="1"/>
            <a:r>
              <a:rPr sz="2600" b="1" i="0" lang="he-IL">
                <a:solidFill>
                  <a:srgbClr val="FFFFFF"/>
                </a:solidFill>
                <a:latin typeface="Arial"/>
              </a:rPr>
              <a:t>ספק אחד.</a:t>
            </a:r>
          </a:p>
          <a:p>
            <a:pPr algn="ctr" rtl="1"/>
            <a:r>
              <a:rPr sz="2600" b="1" i="0" lang="he-IL">
                <a:solidFill>
                  <a:srgbClr val="FFFFFF"/>
                </a:solidFill>
                <a:latin typeface="Arial"/>
              </a:rPr>
              <a:t>כל המקרר.</a:t>
            </a:r>
          </a:p>
          <a:p>
            <a:pPr algn="ctr" rtl="1">
              <a:spcBef>
                <a:spcPts val="1000"/>
              </a:spcBef>
            </a:pPr>
            <a:r>
              <a:rPr sz="1350" b="0" i="0" lang="he-IL">
                <a:solidFill>
                  <a:srgbClr val="FBD9DB"/>
                </a:solidFill>
                <a:latin typeface="Arial"/>
              </a:rPr>
              <a:t>זה מה שאף מתחרה ישראלי לא יכול להציע.</a:t>
            </a:r>
          </a:p>
        </p:txBody>
      </p:sp>
      <p:sp>
        <p:nvSpPr>
          <p:cNvPr id="22" name="Oval 21"/>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מאומתת + ניתוח שלנו</a:t>
            </a:r>
          </a:p>
        </p:txBody>
      </p:sp>
      <p:sp>
        <p:nvSpPr>
          <p:cNvPr id="24" name="TextBox 23"/>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25" name="TextBox 24"/>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הזירה האחת שלא מנצחים בה: שוק החלב</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הקטגוריה היחידה שבה CBC היא דווקא השחקן הקטן</a:t>
            </a:r>
          </a:p>
        </p:txBody>
      </p:sp>
      <p:graphicFrame>
        <p:nvGraphicFramePr>
          <p:cNvPr id="4" name="Chart 3"/>
          <p:cNvGraphicFramePr>
            <a:graphicFrameLocks noGrp="1"/>
          </p:cNvGraphicFramePr>
          <p:nvPr/>
        </p:nvGraphicFramePr>
        <p:xfrm>
          <a:off x="1097280" y="2103120"/>
          <a:ext cx="4572000" cy="3703320"/>
        </p:xfrm>
        <a:graphic>
          <a:graphicData uri="http://schemas.openxmlformats.org/drawingml/2006/chart">
            <c:chart xmlns:c="http://schemas.openxmlformats.org/drawingml/2006/chart" r:id="rId2"/>
          </a:graphicData>
        </a:graphic>
      </p:graphicFrame>
      <p:sp>
        <p:nvSpPr>
          <p:cNvPr id="5" name="TextBox 4"/>
          <p:cNvSpPr txBox="1"/>
          <p:nvPr/>
        </p:nvSpPr>
        <p:spPr>
          <a:xfrm>
            <a:off x="6126480" y="2286000"/>
            <a:ext cx="4937760" cy="3474720"/>
          </a:xfrm>
          <a:prstGeom prst="rect">
            <a:avLst/>
          </a:prstGeom>
          <a:noFill/>
        </p:spPr>
        <p:txBody>
          <a:bodyPr wrap="square" anchor="ctr" lIns="0" rIns="0" tIns="0" bIns="0">
            <a:spAutoFit/>
          </a:bodyPr>
          <a:lstStyle/>
          <a:p>
            <a:pPr algn="r" rtl="1">
              <a:spcAft>
                <a:spcPts val="800"/>
              </a:spcAft>
            </a:pPr>
            <a:r>
              <a:rPr sz="2600" b="1" i="0" lang="he-IL">
                <a:solidFill>
                  <a:srgbClr val="E11B22"/>
                </a:solidFill>
                <a:latin typeface="Arial"/>
              </a:rPr>
              <a:t>טרה: ~9.6% בלבד</a:t>
            </a:r>
          </a:p>
          <a:p>
            <a:pPr algn="r" rtl="1">
              <a:spcAft>
                <a:spcPts val="1000"/>
              </a:spcAft>
            </a:pPr>
            <a:r>
              <a:rPr sz="1600" b="0" i="0" lang="he-IL">
                <a:solidFill>
                  <a:srgbClr val="6B6B6B"/>
                </a:solidFill>
                <a:latin typeface="Arial"/>
              </a:rPr>
              <a:t>בשוק החלב תנובה ושטראוס שולטות, וזו הקטגוריה היחידה שבה CBC היא השחקן הקטן.</a:t>
            </a:r>
          </a:p>
          <a:p>
            <a:pPr algn="r" rtl="1">
              <a:spcAft>
                <a:spcPts val="1000"/>
              </a:spcAft>
            </a:pPr>
            <a:r>
              <a:rPr sz="1600" b="1" i="0" lang="he-IL">
                <a:solidFill>
                  <a:srgbClr val="1A1A1A"/>
                </a:solidFill>
                <a:latin typeface="Arial"/>
              </a:rPr>
              <a:t>וגם המגמה שלילית: נתח טרה ירד מ-~13% (2017) אל מתחת ל-10% (2025).</a:t>
            </a:r>
          </a:p>
          <a:p>
            <a:pPr algn="r" rtl="1"/>
            <a:r>
              <a:rPr sz="1500" b="0" i="1" lang="he-IL">
                <a:solidFill>
                  <a:srgbClr val="6B6B6B"/>
                </a:solidFill>
                <a:latin typeface="Arial"/>
              </a:rPr>
              <a:t>מציאות תחרותית שמזכירה שאפילו ענק לא מנצח בכל זירה.</a:t>
            </a:r>
          </a:p>
        </p:txBody>
      </p:sp>
      <p:sp>
        <p:nvSpPr>
          <p:cNvPr id="6" name="Oval 5"/>
          <p:cNvSpPr/>
          <p:nvPr/>
        </p:nvSpPr>
        <p:spPr>
          <a:xfrm>
            <a:off x="502920" y="6144768"/>
            <a:ext cx="109728" cy="109728"/>
          </a:xfrm>
          <a:prstGeom prst="ellipse">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הערכה (חברה / עיתונות)</a:t>
            </a:r>
          </a:p>
        </p:txBody>
      </p:sp>
      <p:sp>
        <p:nvSpPr>
          <p:cNvPr id="8" name="TextBox 7"/>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9" name="TextBox 8"/>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nchor="t" lIns="0" rIns="0" tIns="0" bIns="0">
            <a:spAutoFit/>
          </a:bodyPr>
          <a:lstStyle/>
          <a:p>
            <a:pPr algn="r" rtl="1"/>
            <a:r>
              <a:rPr sz="3800" b="1" i="0" lang="he-IL">
                <a:solidFill>
                  <a:srgbClr val="1A1A1A"/>
                </a:solidFill>
                <a:latin typeface="Arial"/>
              </a:rPr>
              <a:t>חדשנות כבידול</a:t>
            </a:r>
          </a:p>
        </p:txBody>
      </p:sp>
      <p:sp>
        <p:nvSpPr>
          <p:cNvPr id="3" name="TextBox 2"/>
          <p:cNvSpPr txBox="1"/>
          <p:nvPr/>
        </p:nvSpPr>
        <p:spPr>
          <a:xfrm>
            <a:off x="640080" y="1298448"/>
            <a:ext cx="10972800" cy="548640"/>
          </a:xfrm>
          <a:prstGeom prst="rect">
            <a:avLst/>
          </a:prstGeom>
          <a:noFill/>
        </p:spPr>
        <p:txBody>
          <a:bodyPr wrap="square" anchor="t" lIns="0" rIns="0" tIns="0" bIns="0">
            <a:spAutoFit/>
          </a:bodyPr>
          <a:lstStyle/>
          <a:p>
            <a:pPr algn="r" rtl="1"/>
            <a:r>
              <a:rPr sz="1600" b="0" i="0" lang="he-IL">
                <a:solidFill>
                  <a:srgbClr val="6B6B6B"/>
                </a:solidFill>
                <a:latin typeface="Arial"/>
              </a:rPr>
              <a:t>לא רק לשמר את ההובלה, אלא לתקוף קטגוריות חדשות</a:t>
            </a:r>
          </a:p>
        </p:txBody>
      </p:sp>
      <p:sp>
        <p:nvSpPr>
          <p:cNvPr id="4" name="Rounded Rectangle 3"/>
          <p:cNvSpPr/>
          <p:nvPr/>
        </p:nvSpPr>
        <p:spPr>
          <a:xfrm>
            <a:off x="6464808" y="2194560"/>
            <a:ext cx="4983480" cy="269748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lask_red.png"/>
          <p:cNvPicPr>
            <a:picLocks noChangeAspect="1"/>
          </p:cNvPicPr>
          <p:nvPr/>
        </p:nvPicPr>
        <p:blipFill>
          <a:blip r:embed="rId2"/>
          <a:stretch>
            <a:fillRect/>
          </a:stretch>
        </p:blipFill>
        <p:spPr>
          <a:xfrm>
            <a:off x="6739128" y="2423160"/>
            <a:ext cx="685800" cy="685800"/>
          </a:xfrm>
          <a:prstGeom prst="rect">
            <a:avLst/>
          </a:prstGeom>
        </p:spPr>
      </p:pic>
      <p:sp>
        <p:nvSpPr>
          <p:cNvPr id="6" name="TextBox 5"/>
          <p:cNvSpPr txBox="1"/>
          <p:nvPr/>
        </p:nvSpPr>
        <p:spPr>
          <a:xfrm>
            <a:off x="7562088" y="2423160"/>
            <a:ext cx="3703320" cy="640080"/>
          </a:xfrm>
          <a:prstGeom prst="rect">
            <a:avLst/>
          </a:prstGeom>
          <a:noFill/>
        </p:spPr>
        <p:txBody>
          <a:bodyPr wrap="square" anchor="ctr" lIns="0" rIns="0" tIns="0" bIns="0">
            <a:spAutoFit/>
          </a:bodyPr>
          <a:lstStyle/>
          <a:p>
            <a:pPr algn="r" rtl="1"/>
            <a:r>
              <a:rPr sz="2000" b="1" i="0" lang="he-IL">
                <a:solidFill>
                  <a:srgbClr val="1A1A1A"/>
                </a:solidFill>
                <a:latin typeface="Arial"/>
              </a:rPr>
              <a:t>Brevel</a:t>
            </a:r>
          </a:p>
        </p:txBody>
      </p:sp>
      <p:sp>
        <p:nvSpPr>
          <p:cNvPr id="7" name="TextBox 6"/>
          <p:cNvSpPr txBox="1"/>
          <p:nvPr/>
        </p:nvSpPr>
        <p:spPr>
          <a:xfrm>
            <a:off x="6693408" y="3246120"/>
            <a:ext cx="4526280" cy="1463040"/>
          </a:xfrm>
          <a:prstGeom prst="rect">
            <a:avLst/>
          </a:prstGeom>
          <a:noFill/>
        </p:spPr>
        <p:txBody>
          <a:bodyPr wrap="square" anchor="t" lIns="0" rIns="0" tIns="0" bIns="0">
            <a:spAutoFit/>
          </a:bodyPr>
          <a:lstStyle/>
          <a:p>
            <a:pPr algn="r" rtl="1"/>
            <a:r>
              <a:rPr sz="1350" b="0" i="0" lang="he-IL">
                <a:solidFill>
                  <a:srgbClr val="6B6B6B"/>
                </a:solidFill>
                <a:latin typeface="Arial"/>
              </a:rPr>
              <a:t>שיתוף פעולה מ-2025 לפיתוח חלבון ממיקרו-אצות, לתחליפי חלב ומשקאות פונקציונליים. צעד אל מעבר למשקאות הקלאסיים.</a:t>
            </a:r>
          </a:p>
        </p:txBody>
      </p:sp>
      <p:sp>
        <p:nvSpPr>
          <p:cNvPr id="8" name="Rounded Rectangle 7"/>
          <p:cNvSpPr/>
          <p:nvPr/>
        </p:nvSpPr>
        <p:spPr>
          <a:xfrm>
            <a:off x="1161288" y="2194560"/>
            <a:ext cx="4983480" cy="2697480"/>
          </a:xfrm>
          <a:prstGeom prst="roundRect">
            <a:avLst>
              <a:gd name="adj" fmla="val 6000"/>
            </a:avLst>
          </a:prstGeom>
          <a:solidFill>
            <a:srgbClr val="F4F4F4"/>
          </a:solidFill>
          <a:ln>
            <a:noFill/>
          </a:ln>
          <a:effectLst>
            <a:outerShdw blurRad="101600" dist="38100" dir="36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ttle_red.png"/>
          <p:cNvPicPr>
            <a:picLocks noChangeAspect="1"/>
          </p:cNvPicPr>
          <p:nvPr/>
        </p:nvPicPr>
        <p:blipFill>
          <a:blip r:embed="rId3"/>
          <a:stretch>
            <a:fillRect/>
          </a:stretch>
        </p:blipFill>
        <p:spPr>
          <a:xfrm>
            <a:off x="1435608" y="2423160"/>
            <a:ext cx="685800" cy="685800"/>
          </a:xfrm>
          <a:prstGeom prst="rect">
            <a:avLst/>
          </a:prstGeom>
        </p:spPr>
      </p:pic>
      <p:sp>
        <p:nvSpPr>
          <p:cNvPr id="10" name="TextBox 9"/>
          <p:cNvSpPr txBox="1"/>
          <p:nvPr/>
        </p:nvSpPr>
        <p:spPr>
          <a:xfrm>
            <a:off x="2258568" y="2423160"/>
            <a:ext cx="3703320" cy="640080"/>
          </a:xfrm>
          <a:prstGeom prst="rect">
            <a:avLst/>
          </a:prstGeom>
          <a:noFill/>
        </p:spPr>
        <p:txBody>
          <a:bodyPr wrap="square" anchor="ctr" lIns="0" rIns="0" tIns="0" bIns="0">
            <a:spAutoFit/>
          </a:bodyPr>
          <a:lstStyle/>
          <a:p>
            <a:pPr algn="r" rtl="1"/>
            <a:r>
              <a:rPr sz="2000" b="1" i="0" lang="he-IL">
                <a:solidFill>
                  <a:srgbClr val="1A1A1A"/>
                </a:solidFill>
                <a:latin typeface="Arial"/>
              </a:rPr>
              <a:t>נורדיק מיסט</a:t>
            </a:r>
          </a:p>
        </p:txBody>
      </p:sp>
      <p:sp>
        <p:nvSpPr>
          <p:cNvPr id="11" name="TextBox 10"/>
          <p:cNvSpPr txBox="1"/>
          <p:nvPr/>
        </p:nvSpPr>
        <p:spPr>
          <a:xfrm>
            <a:off x="1389888" y="3246120"/>
            <a:ext cx="4526280" cy="1463040"/>
          </a:xfrm>
          <a:prstGeom prst="rect">
            <a:avLst/>
          </a:prstGeom>
          <a:noFill/>
        </p:spPr>
        <p:txBody>
          <a:bodyPr wrap="square" anchor="t" lIns="0" rIns="0" tIns="0" bIns="0">
            <a:spAutoFit/>
          </a:bodyPr>
          <a:lstStyle/>
          <a:p>
            <a:pPr algn="r" rtl="1"/>
            <a:r>
              <a:rPr sz="1350" b="0" i="0" lang="he-IL">
                <a:solidFill>
                  <a:srgbClr val="6B6B6B"/>
                </a:solidFill>
                <a:latin typeface="Arial"/>
              </a:rPr>
              <a:t>הושק ב-2022 כמתחרה ל-Schweppes, הורחב ב-2024 לכלל הקמעונאות עם גרסת Zero ואריזה משפחתית, באריזות rPET ממוחזרות.</a:t>
            </a:r>
          </a:p>
        </p:txBody>
      </p:sp>
      <p:sp>
        <p:nvSpPr>
          <p:cNvPr id="12" name="Rounded Rectangle 11"/>
          <p:cNvSpPr/>
          <p:nvPr/>
        </p:nvSpPr>
        <p:spPr>
          <a:xfrm>
            <a:off x="1161288" y="5120640"/>
            <a:ext cx="9857232" cy="731520"/>
          </a:xfrm>
          <a:prstGeom prst="roundRect">
            <a:avLst>
              <a:gd name="adj" fmla="val 6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5120640"/>
            <a:ext cx="9436608" cy="731520"/>
          </a:xfrm>
          <a:prstGeom prst="rect">
            <a:avLst/>
          </a:prstGeom>
          <a:noFill/>
        </p:spPr>
        <p:txBody>
          <a:bodyPr wrap="square" anchor="ctr" lIns="0" rIns="0" tIns="0" bIns="0">
            <a:spAutoFit/>
          </a:bodyPr>
          <a:lstStyle/>
          <a:p>
            <a:pPr algn="ctr" rtl="1"/>
            <a:r>
              <a:rPr sz="1500" b="0" i="0" lang="he-IL">
                <a:solidFill>
                  <a:srgbClr val="1A1A1A"/>
                </a:solidFill>
                <a:latin typeface="Arial"/>
              </a:rPr>
              <a:t>חדשנות מוצרית היא חלק מהבידול: היא שומרת על ההובלה היום, ובונה את </a:t>
            </a:r>
            <a:r>
              <a:rPr sz="1500" b="1" i="0" lang="he-IL">
                <a:solidFill>
                  <a:srgbClr val="E11B22"/>
                </a:solidFill>
                <a:latin typeface="Arial"/>
              </a:rPr>
              <a:t>הקטגוריות של מחר.</a:t>
            </a:r>
          </a:p>
        </p:txBody>
      </p:sp>
      <p:sp>
        <p:nvSpPr>
          <p:cNvPr id="14" name="Oval 13"/>
          <p:cNvSpPr/>
          <p:nvPr/>
        </p:nvSpPr>
        <p:spPr>
          <a:xfrm>
            <a:off x="502920" y="6144768"/>
            <a:ext cx="109728" cy="109728"/>
          </a:xfrm>
          <a:prstGeom prst="ellipse">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089904"/>
            <a:ext cx="5943600" cy="274320"/>
          </a:xfrm>
          <a:prstGeom prst="rect">
            <a:avLst/>
          </a:prstGeom>
          <a:noFill/>
        </p:spPr>
        <p:txBody>
          <a:bodyPr wrap="square" anchor="t" lIns="0" rIns="0" tIns="0" bIns="0">
            <a:spAutoFit/>
          </a:bodyPr>
          <a:lstStyle/>
          <a:p>
            <a:pPr algn="l" rtl="1"/>
            <a:r>
              <a:rPr sz="1050" b="0" i="0" lang="he-IL">
                <a:solidFill>
                  <a:srgbClr val="6B6B6B"/>
                </a:solidFill>
                <a:latin typeface="Arial"/>
              </a:rPr>
              <a:t>עובדה ציבורית מאומתת</a:t>
            </a:r>
          </a:p>
        </p:txBody>
      </p:sp>
      <p:sp>
        <p:nvSpPr>
          <p:cNvPr id="16" name="TextBox 15"/>
          <p:cNvSpPr txBox="1"/>
          <p:nvPr/>
        </p:nvSpPr>
        <p:spPr>
          <a:xfrm>
            <a:off x="502920" y="6419088"/>
            <a:ext cx="5943600" cy="320040"/>
          </a:xfrm>
          <a:prstGeom prst="rect">
            <a:avLst/>
          </a:prstGeom>
          <a:noFill/>
        </p:spPr>
        <p:txBody>
          <a:bodyPr wrap="square" anchor="t" lIns="0" rIns="0" tIns="0" bIns="0">
            <a:spAutoFit/>
          </a:bodyPr>
          <a:lstStyle/>
          <a:p>
            <a:pPr algn="l" rtl="0"/>
            <a:r>
              <a:rPr sz="1000" b="0" i="0" lang="en-US">
                <a:solidFill>
                  <a:srgbClr val="9A9A9A"/>
                </a:solidFill>
                <a:latin typeface="Arial"/>
              </a:rPr>
              <a:t>CBC  ·  קוקה-קולה ישראל</a:t>
            </a:r>
          </a:p>
        </p:txBody>
      </p:sp>
      <p:sp>
        <p:nvSpPr>
          <p:cNvPr id="17" name="TextBox 16"/>
          <p:cNvSpPr txBox="1"/>
          <p:nvPr/>
        </p:nvSpPr>
        <p:spPr>
          <a:xfrm>
            <a:off x="10698480" y="6419088"/>
            <a:ext cx="987552" cy="320040"/>
          </a:xfrm>
          <a:prstGeom prst="rect">
            <a:avLst/>
          </a:prstGeom>
          <a:noFill/>
        </p:spPr>
        <p:txBody>
          <a:bodyPr wrap="square" anchor="t" lIns="0" rIns="0" tIns="0" bIns="0">
            <a:spAutoFit/>
          </a:bodyPr>
          <a:lstStyle/>
          <a:p>
            <a:pPr algn="r" rtl="0"/>
            <a:r>
              <a:rPr sz="1000" b="0" i="0" lang="en-US">
                <a:solidFill>
                  <a:srgbClr val="9A9A9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11B22"/>
        </a:solidFill>
        <a:effectLst/>
      </p:bgPr>
    </p:bg>
    <p:spTree>
      <p:nvGrpSpPr>
        <p:cNvPr id="1" name=""/>
        <p:cNvGrpSpPr/>
        <p:nvPr/>
      </p:nvGrpSpPr>
      <p:grpSpPr/>
      <p:sp>
        <p:nvSpPr>
          <p:cNvPr id="2" name="Oval 1"/>
          <p:cNvSpPr/>
          <p:nvPr/>
        </p:nvSpPr>
        <p:spPr>
          <a:xfrm>
            <a:off x="-2011680" y="4572000"/>
            <a:ext cx="16184880" cy="5852160"/>
          </a:xfrm>
          <a:prstGeom prst="ellipse">
            <a:avLst/>
          </a:prstGeom>
          <a:solidFill>
            <a:srgbClr val="B3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554480"/>
            <a:ext cx="10177272" cy="548640"/>
          </a:xfrm>
          <a:prstGeom prst="rect">
            <a:avLst/>
          </a:prstGeom>
          <a:noFill/>
        </p:spPr>
        <p:txBody>
          <a:bodyPr wrap="square" anchor="t" lIns="0" rIns="0" tIns="0" bIns="0">
            <a:spAutoFit/>
          </a:bodyPr>
          <a:lstStyle/>
          <a:p>
            <a:pPr algn="ctr" rtl="1"/>
            <a:r>
              <a:rPr sz="1800" b="1" i="0" lang="he-IL">
                <a:solidFill>
                  <a:srgbClr val="F6BCBE"/>
                </a:solidFill>
                <a:latin typeface="Arial"/>
              </a:rPr>
              <a:t>לסיכום</a:t>
            </a:r>
          </a:p>
        </p:txBody>
      </p:sp>
      <p:sp>
        <p:nvSpPr>
          <p:cNvPr id="4" name="TextBox 3"/>
          <p:cNvSpPr txBox="1"/>
          <p:nvPr/>
        </p:nvSpPr>
        <p:spPr>
          <a:xfrm>
            <a:off x="1005840" y="2286000"/>
            <a:ext cx="10177272" cy="1920240"/>
          </a:xfrm>
          <a:prstGeom prst="rect">
            <a:avLst/>
          </a:prstGeom>
          <a:noFill/>
        </p:spPr>
        <p:txBody>
          <a:bodyPr wrap="square" anchor="ctr" lIns="0" rIns="0" tIns="0" bIns="0">
            <a:spAutoFit/>
          </a:bodyPr>
          <a:lstStyle/>
          <a:p>
            <a:pPr algn="ctr" rtl="1"/>
            <a:r>
              <a:rPr sz="3800" b="1" i="0" lang="he-IL">
                <a:solidFill>
                  <a:srgbClr val="FFFFFF"/>
                </a:solidFill>
                <a:latin typeface="Arial"/>
              </a:rPr>
              <a:t>חברה פרטית אחת, בבעלות משפחה אחת,</a:t>
            </a:r>
          </a:p>
          <a:p>
            <a:pPr algn="ctr" rtl="1"/>
            <a:r>
              <a:rPr sz="3800" b="1" i="0" lang="he-IL">
                <a:solidFill>
                  <a:srgbClr val="FFFFFF"/>
                </a:solidFill>
                <a:latin typeface="Arial"/>
              </a:rPr>
              <a:t>שולטת כמעט בכל מה שאתם שותים.</a:t>
            </a:r>
          </a:p>
        </p:txBody>
      </p:sp>
      <p:sp>
        <p:nvSpPr>
          <p:cNvPr id="5" name="TextBox 4"/>
          <p:cNvSpPr txBox="1"/>
          <p:nvPr/>
        </p:nvSpPr>
        <p:spPr>
          <a:xfrm>
            <a:off x="1463040" y="4617720"/>
            <a:ext cx="9262872" cy="1097280"/>
          </a:xfrm>
          <a:prstGeom prst="rect">
            <a:avLst/>
          </a:prstGeom>
          <a:noFill/>
        </p:spPr>
        <p:txBody>
          <a:bodyPr wrap="square" anchor="ctr" lIns="0" rIns="0" tIns="0" bIns="0">
            <a:spAutoFit/>
          </a:bodyPr>
          <a:lstStyle/>
          <a:p>
            <a:pPr algn="ctr" rtl="1"/>
            <a:r>
              <a:rPr sz="1900" b="0" i="0" lang="he-IL">
                <a:solidFill>
                  <a:srgbClr val="FBD9DB"/>
                </a:solidFill>
                <a:latin typeface="Arial"/>
              </a:rPr>
              <a:t>מותגים בלעדיים, מצוינות תפעולית ושליטה בנקודת המכירה,</a:t>
            </a:r>
          </a:p>
          <a:p>
            <a:pPr algn="ctr" rtl="1"/>
            <a:r>
              <a:rPr sz="1900" b="0" i="0" lang="he-IL">
                <a:solidFill>
                  <a:srgbClr val="FBD9DB"/>
                </a:solidFill>
                <a:latin typeface="Arial"/>
              </a:rPr>
              <a:t>הם שהופכים את CBC לבלתי-מנוצחת.</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11B22"/>
        </a:solidFill>
        <a:effectLst/>
      </p:bgPr>
    </p:bg>
    <p:spTree>
      <p:nvGrpSpPr>
        <p:cNvPr id="1" name=""/>
        <p:cNvGrpSpPr/>
        <p:nvPr/>
      </p:nvGrpSpPr>
      <p:grpSpPr/>
      <p:sp>
        <p:nvSpPr>
          <p:cNvPr id="2" name="Oval 1"/>
          <p:cNvSpPr/>
          <p:nvPr/>
        </p:nvSpPr>
        <p:spPr>
          <a:xfrm>
            <a:off x="-2011680" y="4572000"/>
            <a:ext cx="16184880" cy="5852160"/>
          </a:xfrm>
          <a:prstGeom prst="ellipse">
            <a:avLst/>
          </a:prstGeom>
          <a:solidFill>
            <a:srgbClr val="E84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03120"/>
            <a:ext cx="10177272" cy="1463040"/>
          </a:xfrm>
          <a:prstGeom prst="rect">
            <a:avLst/>
          </a:prstGeom>
          <a:noFill/>
        </p:spPr>
        <p:txBody>
          <a:bodyPr wrap="square" anchor="ctr" lIns="0" rIns="0" tIns="0" bIns="0">
            <a:spAutoFit/>
          </a:bodyPr>
          <a:lstStyle/>
          <a:p>
            <a:pPr algn="ctr" rtl="1"/>
            <a:r>
              <a:rPr sz="7200" b="1" i="0" lang="he-IL">
                <a:solidFill>
                  <a:srgbClr val="FFFFFF"/>
                </a:solidFill>
                <a:latin typeface="Arial"/>
              </a:rPr>
              <a:t>תודה רבה</a:t>
            </a:r>
          </a:p>
        </p:txBody>
      </p:sp>
      <p:sp>
        <p:nvSpPr>
          <p:cNvPr id="4" name="TextBox 3"/>
          <p:cNvSpPr txBox="1"/>
          <p:nvPr/>
        </p:nvSpPr>
        <p:spPr>
          <a:xfrm>
            <a:off x="1005840" y="3657600"/>
            <a:ext cx="10177272" cy="731520"/>
          </a:xfrm>
          <a:prstGeom prst="rect">
            <a:avLst/>
          </a:prstGeom>
          <a:noFill/>
        </p:spPr>
        <p:txBody>
          <a:bodyPr wrap="square" anchor="ctr" lIns="0" rIns="0" tIns="0" bIns="0">
            <a:spAutoFit/>
          </a:bodyPr>
          <a:lstStyle/>
          <a:p>
            <a:pPr algn="ctr" rtl="1"/>
            <a:r>
              <a:rPr sz="2600" b="1" i="0" lang="he-IL">
                <a:solidFill>
                  <a:srgbClr val="FBD9DB"/>
                </a:solidFill>
                <a:latin typeface="Arial"/>
              </a:rPr>
              <a:t>נשמח לשאלות</a:t>
            </a:r>
          </a:p>
        </p:txBody>
      </p:sp>
      <p:sp>
        <p:nvSpPr>
          <p:cNvPr id="5" name="TextBox 4"/>
          <p:cNvSpPr txBox="1"/>
          <p:nvPr/>
        </p:nvSpPr>
        <p:spPr>
          <a:xfrm>
            <a:off x="1005840" y="5029200"/>
            <a:ext cx="10177272" cy="411480"/>
          </a:xfrm>
          <a:prstGeom prst="rect">
            <a:avLst/>
          </a:prstGeom>
          <a:noFill/>
        </p:spPr>
        <p:txBody>
          <a:bodyPr wrap="square" anchor="t" lIns="0" rIns="0" tIns="0" bIns="0">
            <a:spAutoFit/>
          </a:bodyPr>
          <a:lstStyle/>
          <a:p>
            <a:pPr algn="ctr" rtl="1"/>
            <a:r>
              <a:rPr sz="1500" b="0" i="0" lang="he-IL">
                <a:solidFill>
                  <a:srgbClr val="FFFFFF"/>
                </a:solidFill>
                <a:latin typeface="Arial"/>
              </a:rPr>
              <a:t>סאלי חליף  ·  ירדן רום  ·  נתנאל יברקן</a:t>
            </a:r>
          </a:p>
        </p:txBody>
      </p:sp>
      <p:sp>
        <p:nvSpPr>
          <p:cNvPr id="6" name="TextBox 5"/>
          <p:cNvSpPr txBox="1"/>
          <p:nvPr/>
        </p:nvSpPr>
        <p:spPr>
          <a:xfrm>
            <a:off x="1005840" y="5486400"/>
            <a:ext cx="10177272" cy="411480"/>
          </a:xfrm>
          <a:prstGeom prst="rect">
            <a:avLst/>
          </a:prstGeom>
          <a:noFill/>
        </p:spPr>
        <p:txBody>
          <a:bodyPr wrap="square" anchor="t" lIns="0" rIns="0" tIns="0" bIns="0">
            <a:spAutoFit/>
          </a:bodyPr>
          <a:lstStyle/>
          <a:p>
            <a:pPr algn="ctr" rtl="1"/>
            <a:r>
              <a:rPr sz="1250" b="0" i="0" lang="he-IL">
                <a:solidFill>
                  <a:srgbClr val="F6C9CB"/>
                </a:solidFill>
                <a:latin typeface="Arial"/>
              </a:rPr>
              <a:t>אסטרטגיית CRM בארגונים עסקיים ו-Salesforce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